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fc504e5909477d" /><Relationship Type="http://schemas.openxmlformats.org/officeDocument/2006/relationships/extended-properties" Target="/docProps/app.xml" Id="Rec0b5d5fb43a4cb1" /><Relationship Type="http://schemas.openxmlformats.org/officeDocument/2006/relationships/officeDocument" Target="/ppt/presentation.xml" Id="R14b3f2c5322348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4860300db247f3"/>
  </p:sldMasterIdLst>
  <p:notesMasterIdLst>
    <p:notesMasterId xmlns:r="http://schemas.openxmlformats.org/officeDocument/2006/relationships" r:id="R494f5b33d7c44a45"/>
  </p:notesMasterIdLst>
  <p:sldIdLst>
    <p:sldId xmlns:r="http://schemas.openxmlformats.org/officeDocument/2006/relationships" id="256" r:id="Rdf87998ace2844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1450ef41184513" /><Relationship Type="http://schemas.openxmlformats.org/officeDocument/2006/relationships/slideMaster" Target="/ppt/slideMasters/slideMaster1.xml" Id="R074860300db247f3" /><Relationship Type="http://schemas.openxmlformats.org/officeDocument/2006/relationships/notesMaster" Target="/ppt/notesMasters/notesMaster1.xml" Id="R494f5b33d7c44a45" /><Relationship Type="http://schemas.openxmlformats.org/officeDocument/2006/relationships/presProps" Target="/ppt/presProps.xml" Id="R7eeb3d7674724c14" /><Relationship Type="http://schemas.openxmlformats.org/officeDocument/2006/relationships/tableStyles" Target="/ppt/tableStyles.xml" Id="Raf7210ddd17a43f7" /><Relationship Type="http://schemas.openxmlformats.org/officeDocument/2006/relationships/slide" Target="/ppt/slides/slide1.xml" Id="Rdf87998ace2844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5ea16b4d384c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6ef8d176fe45ac" /><Relationship Type="http://schemas.openxmlformats.org/officeDocument/2006/relationships/notesMaster" Target="/ppt/notesMasters/notesMaster1.xml" Id="R2ef83c20a0b04f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Phân loại dựa trên README.md, PROJECT_OVERVIEW.md, DEPLOYMENT.md, docker-compose.yml, render.yaml, backend/app/core/config.py, backend/app/ai/factory.py, backend/app/ai/fake.py, backend/app/services/cases.py, data/demo-config.json. React frontend, FastAPI backend, nghiệp vụ, human decision flow, audit và PostgreSQL/pgvector support có trong repo. Docker Compose định nghĩa 3 service web/api/postgres cho local. AI_MODE mặc định fake; Gemini chỉ chạy khi cấu hình AI_MODE=gemini và có key. FakeProvider là provider deterministic cho dev/test; fake mode dùng keyword retrieval. Tài khoản/course/group và tài liệu sample được seed/demo. Human decision flow có code nhưng reviewer validation hiện ràng buộc lecturer-01. render.yaml + DEPLOYMENT.md cấu hình mục tiêu Render API + Vercel web + DB ngoài có pgvector; chưa có bằng chứng trong repo rằng cloud đang live. Không thấy tích hợp LMS/SIS trong cấu hình đã rà.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7b1c6251e45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24566fe804f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9aa6a082642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49f06d6deb4d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45d3134b34e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12dba2b3443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428998-D0F2-4334-8D4A-2ADC15F44D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86A072-3385-4FD8-8D43-86EB5E26EC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5C4799-31AF-44E2-AF75-577B64482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5DE41C-83CE-4F2B-87D0-ECEBA2F0F6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4CFF29C-453E-40EC-96CC-F8FD49B1D7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150367-F5C6-44A1-811C-0A80FF54D4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3F6E7A-682A-4049-9DB7-3F82859D69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DA3471-EB73-4A1A-A67A-DEAB52A693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A813CD-45B6-4D03-80C4-F73DEE1CED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C62530-9846-44FD-B5B8-B928BA3419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06b2f2eebd4e9e" /><Relationship Type="http://schemas.openxmlformats.org/officeDocument/2006/relationships/slideLayout" Target="/ppt/slideLayouts/slideLayout1.xml" Id="Rffa43094a50d4524" /><Relationship Type="http://schemas.openxmlformats.org/officeDocument/2006/relationships/slideLayout" Target="/ppt/slideLayouts/slideLayout2.xml" Id="R3ecf4758e6854fb2" /><Relationship Type="http://schemas.openxmlformats.org/officeDocument/2006/relationships/slideLayout" Target="/ppt/slideLayouts/slideLayout3.xml" Id="R9da774c452f04d74" /><Relationship Type="http://schemas.openxmlformats.org/officeDocument/2006/relationships/slideLayout" Target="/ppt/slideLayouts/slideLayout4.xml" Id="R26552fe32cbf42d7" /><Relationship Type="http://schemas.openxmlformats.org/officeDocument/2006/relationships/slideLayout" Target="/ppt/slideLayouts/slideLayout5.xml" Id="R8fa3df5ed7aa40ba" /><Relationship Type="http://schemas.openxmlformats.org/officeDocument/2006/relationships/slideLayout" Target="/ppt/slideLayouts/slideLayout6.xml" Id="R34a0ef45ae944a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a43094a50d4524"/>
    <p:sldLayoutId xmlns:r="http://schemas.openxmlformats.org/officeDocument/2006/relationships" id="2147483650" r:id="R3ecf4758e6854fb2"/>
    <p:sldLayoutId xmlns:r="http://schemas.openxmlformats.org/officeDocument/2006/relationships" id="2147483651" r:id="R9da774c452f04d74"/>
    <p:sldLayoutId xmlns:r="http://schemas.openxmlformats.org/officeDocument/2006/relationships" id="2147483652" r:id="R26552fe32cbf42d7"/>
    <p:sldLayoutId xmlns:r="http://schemas.openxmlformats.org/officeDocument/2006/relationships" id="2147483653" r:id="R8fa3df5ed7aa40ba"/>
    <p:sldLayoutId xmlns:r="http://schemas.openxmlformats.org/officeDocument/2006/relationships" id="2147483654" r:id="R34a0ef45ae944a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b516da97445f5" /><Relationship Type="http://schemas.openxmlformats.org/officeDocument/2006/relationships/notesSlide" Target="/ppt/notesSlides/notesSlide1.xml" Id="Rbb41555cc24743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Eyebrow">
            <a:extLst xmlns:a="http://schemas.openxmlformats.org/drawingml/2006/main">
              <a:ext uri="{FF2B5EF4-FFF2-40B4-BE49-F238E27FC236}">
                <a16:creationId xmlns:a16="http://schemas.microsoft.com/office/drawing/2014/main" id="{6725B0FE-8751-4D3C-9A60-4063FB0A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AER AI REFEREE  •  SYSTEM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42886C-C954-4930-BCF0-2AAF3486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09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Kiến trúc hệ thống &amp; mô hình triển khai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7C06549-9994-4A4C-BB15-14A2367B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38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65749A"/>
                </a:solidFill>
                <a:latin typeface="Arial"/>
                <a:ea typeface="Arial"/>
                <a:cs typeface="Arial"/>
              </a:rPr>
              <a:t>Phân biệt phần mềm đã có trong repo, cấu hình triển khai và phần demo / giả lập.</a:t>
            </a:r>
          </a:p>
        </p:txBody>
      </p:sp>
      <p:sp>
        <p:nvSpPr>
          <p:cNvPr id="4" name="Architecture panel">
            <a:extLst xmlns:a="http://schemas.openxmlformats.org/drawingml/2006/main">
              <a:ext uri="{FF2B5EF4-FFF2-40B4-BE49-F238E27FC236}">
                <a16:creationId xmlns:a16="http://schemas.microsoft.com/office/drawing/2014/main" id="{530FF15E-FF94-4A25-82F8-DC1A45F1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7572375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FE7F2"/>
            </a:solidFill>
            <a:prstDash val="solid"/>
          </a:ln>
        </p:spPr>
      </p:sp>
      <p:sp>
        <p:nvSpPr>
          <p:cNvPr id="5" name="Architecture heading">
            <a:extLst xmlns:a="http://schemas.openxmlformats.org/drawingml/2006/main">
              <a:ext uri="{FF2B5EF4-FFF2-40B4-BE49-F238E27FC236}">
                <a16:creationId xmlns:a16="http://schemas.microsoft.com/office/drawing/2014/main" id="{DD9F0529-BC83-4DBB-839B-22CF8F34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KIẾN TRÚC ỨNG DỤNG</a:t>
            </a:r>
          </a:p>
        </p:txBody>
      </p:sp>
      <p:sp>
        <p:nvSpPr>
          <p:cNvPr id="6" name="Implemented badge bg">
            <a:extLst xmlns:a="http://schemas.openxmlformats.org/drawingml/2006/main">
              <a:ext uri="{FF2B5EF4-FFF2-40B4-BE49-F238E27FC236}">
                <a16:creationId xmlns:a16="http://schemas.microsoft.com/office/drawing/2014/main" id="{0BDEBAB1-CBBE-4526-9917-4E9BF390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38275"/>
            <a:ext cx="15811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7620">
            <a:solidFill>
              <a:srgbClr val="C9E2FF"/>
            </a:solidFill>
            <a:prstDash val="solid"/>
          </a:ln>
        </p:spPr>
      </p:sp>
      <p:sp>
        <p:nvSpPr>
          <p:cNvPr id="7" name="Implemented badge label">
            <a:extLst xmlns:a="http://schemas.openxmlformats.org/drawingml/2006/main">
              <a:ext uri="{FF2B5EF4-FFF2-40B4-BE49-F238E27FC236}">
                <a16:creationId xmlns:a16="http://schemas.microsoft.com/office/drawing/2014/main" id="{FAF3E0CD-F7B1-4A8B-B9B4-616C9834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4780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63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863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ĐÃ CÓ TRONG CODE</a:t>
            </a:r>
          </a:p>
        </p:txBody>
      </p:sp>
      <p:sp>
        <p:nvSpPr>
          <p:cNvPr id="8" name="Actors card">
            <a:extLst xmlns:a="http://schemas.openxmlformats.org/drawingml/2006/main">
              <a:ext uri="{FF2B5EF4-FFF2-40B4-BE49-F238E27FC236}">
                <a16:creationId xmlns:a16="http://schemas.microsoft.com/office/drawing/2014/main" id="{573E0D3C-49F3-4874-8772-C77BF9F3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FE7F2"/>
            </a:solidFill>
            <a:prstDash val="solid"/>
          </a:ln>
        </p:spPr>
      </p:sp>
      <p:sp>
        <p:nvSpPr>
          <p:cNvPr id="9" name="Actors bar">
            <a:extLst xmlns:a="http://schemas.openxmlformats.org/drawingml/2006/main">
              <a:ext uri="{FF2B5EF4-FFF2-40B4-BE49-F238E27FC236}">
                <a16:creationId xmlns:a16="http://schemas.microsoft.com/office/drawing/2014/main" id="{E659C4E3-C48C-42F0-B9AA-0227698B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96F4"/>
          </a:solidFill>
          <a:ln xmlns:a="http://schemas.openxmlformats.org/drawingml/2006/main" w="0">
            <a:solidFill>
              <a:srgbClr val="3196F4"/>
            </a:solidFill>
            <a:prstDash val="solid"/>
          </a:ln>
        </p:spPr>
      </p:sp>
      <p:sp>
        <p:nvSpPr>
          <p:cNvPr id="10" name="Actors overline">
            <a:extLst xmlns:a="http://schemas.openxmlformats.org/drawingml/2006/main">
              <a:ext uri="{FF2B5EF4-FFF2-40B4-BE49-F238E27FC236}">
                <a16:creationId xmlns:a16="http://schemas.microsoft.com/office/drawing/2014/main" id="{284AF6C9-0A16-4E71-BA0B-F9420E33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63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863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ACTORS</a:t>
            </a:r>
          </a:p>
        </p:txBody>
      </p:sp>
      <p:sp>
        <p:nvSpPr>
          <p:cNvPr id="11" name="Actors title">
            <a:extLst xmlns:a="http://schemas.openxmlformats.org/drawingml/2006/main">
              <a:ext uri="{FF2B5EF4-FFF2-40B4-BE49-F238E27FC236}">
                <a16:creationId xmlns:a16="http://schemas.microsoft.com/office/drawing/2014/main" id="{A56EA982-B0EB-43CB-9F30-4B5A171F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Người dùng</a:t>
            </a:r>
          </a:p>
        </p:txBody>
      </p:sp>
      <p:sp>
        <p:nvSpPr>
          <p:cNvPr id="12" name="Actors body">
            <a:extLst xmlns:a="http://schemas.openxmlformats.org/drawingml/2006/main">
              <a:ext uri="{FF2B5EF4-FFF2-40B4-BE49-F238E27FC236}">
                <a16:creationId xmlns:a16="http://schemas.microsoft.com/office/drawing/2014/main" id="{DA3954C0-19F9-40DF-9805-FD21BA3D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181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38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Sinh viên • Giảng viên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38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Phòng Đào tạo</a:t>
            </a:r>
          </a:p>
        </p:txBody>
      </p:sp>
      <p:sp>
        <p:nvSpPr>
          <p:cNvPr id="13" name="Web app card">
            <a:extLst xmlns:a="http://schemas.openxmlformats.org/drawingml/2006/main">
              <a:ext uri="{FF2B5EF4-FFF2-40B4-BE49-F238E27FC236}">
                <a16:creationId xmlns:a16="http://schemas.microsoft.com/office/drawing/2014/main" id="{A8BFF07F-3300-4222-8944-267A66D4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0975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FE7F2"/>
            </a:solidFill>
            <a:prstDash val="solid"/>
          </a:ln>
        </p:spPr>
      </p:sp>
      <p:sp>
        <p:nvSpPr>
          <p:cNvPr id="14" name="Web app bar">
            <a:extLst xmlns:a="http://schemas.openxmlformats.org/drawingml/2006/main">
              <a:ext uri="{FF2B5EF4-FFF2-40B4-BE49-F238E27FC236}">
                <a16:creationId xmlns:a16="http://schemas.microsoft.com/office/drawing/2014/main" id="{98E4069D-1E58-4D3B-9F89-97C588BE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097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96F4"/>
          </a:solidFill>
          <a:ln xmlns:a="http://schemas.openxmlformats.org/drawingml/2006/main" w="0">
            <a:solidFill>
              <a:srgbClr val="3196F4"/>
            </a:solidFill>
            <a:prstDash val="solid"/>
          </a:ln>
        </p:spPr>
      </p:sp>
      <p:sp>
        <p:nvSpPr>
          <p:cNvPr id="15" name="Web app overline">
            <a:extLst xmlns:a="http://schemas.openxmlformats.org/drawingml/2006/main">
              <a:ext uri="{FF2B5EF4-FFF2-40B4-BE49-F238E27FC236}">
                <a16:creationId xmlns:a16="http://schemas.microsoft.com/office/drawing/2014/main" id="{AF925431-88C1-482B-8077-B545D086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1485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63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863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WEB APP</a:t>
            </a:r>
          </a:p>
        </p:txBody>
      </p:sp>
      <p:sp>
        <p:nvSpPr>
          <p:cNvPr id="16" name="Web app title">
            <a:extLst xmlns:a="http://schemas.openxmlformats.org/drawingml/2006/main">
              <a:ext uri="{FF2B5EF4-FFF2-40B4-BE49-F238E27FC236}">
                <a16:creationId xmlns:a16="http://schemas.microsoft.com/office/drawing/2014/main" id="{639D6E0E-7870-41E8-8C2E-EB2BAC1E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669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38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React + TypeScript</a:t>
            </a:r>
          </a:p>
        </p:txBody>
      </p:sp>
      <p:sp>
        <p:nvSpPr>
          <p:cNvPr id="17" name="Web app body">
            <a:extLst xmlns:a="http://schemas.openxmlformats.org/drawingml/2006/main">
              <a:ext uri="{FF2B5EF4-FFF2-40B4-BE49-F238E27FC236}">
                <a16:creationId xmlns:a16="http://schemas.microsoft.com/office/drawing/2014/main" id="{DAEAE3BF-38A6-4258-A3BC-1FE7F921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14575"/>
            <a:ext cx="1562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38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Gửi câu hỏi • lịch sử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38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Inbox giảng viên</a:t>
            </a:r>
          </a:p>
        </p:txBody>
      </p:sp>
      <p:sp>
        <p:nvSpPr>
          <p:cNvPr id="18" name="API card">
            <a:extLst xmlns:a="http://schemas.openxmlformats.org/drawingml/2006/main">
              <a:ext uri="{FF2B5EF4-FFF2-40B4-BE49-F238E27FC236}">
                <a16:creationId xmlns:a16="http://schemas.microsoft.com/office/drawing/2014/main" id="{03C2F934-EA7C-4639-B53C-E4765238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3095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FE7F2"/>
            </a:solidFill>
            <a:prstDash val="solid"/>
          </a:ln>
        </p:spPr>
      </p:sp>
      <p:sp>
        <p:nvSpPr>
          <p:cNvPr id="19" name="API bar">
            <a:extLst xmlns:a="http://schemas.openxmlformats.org/drawingml/2006/main">
              <a:ext uri="{FF2B5EF4-FFF2-40B4-BE49-F238E27FC236}">
                <a16:creationId xmlns:a16="http://schemas.microsoft.com/office/drawing/2014/main" id="{779B33EF-2661-4C60-85B1-A221E231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9F6"/>
          </a:solidFill>
          <a:ln xmlns:a="http://schemas.openxmlformats.org/drawingml/2006/main" w="0">
            <a:solidFill>
              <a:srgbClr val="7659F6"/>
            </a:solidFill>
            <a:prstDash val="solid"/>
          </a:ln>
        </p:spPr>
      </p:sp>
      <p:sp>
        <p:nvSpPr>
          <p:cNvPr id="20" name="API overline">
            <a:extLst xmlns:a="http://schemas.openxmlformats.org/drawingml/2006/main">
              <a:ext uri="{FF2B5EF4-FFF2-40B4-BE49-F238E27FC236}">
                <a16:creationId xmlns:a16="http://schemas.microsoft.com/office/drawing/2014/main" id="{853D7710-5119-4F6A-96A2-266861D8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95475"/>
            <a:ext cx="2724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63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863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7659F6"/>
                </a:solidFill>
                <a:latin typeface="Arial"/>
                <a:ea typeface="Arial"/>
                <a:cs typeface="Arial"/>
              </a:rPr>
              <a:t>API / ORCHESTRATION</a:t>
            </a:r>
          </a:p>
        </p:txBody>
      </p:sp>
      <p:sp>
        <p:nvSpPr>
          <p:cNvPr id="21" name="API title">
            <a:extLst xmlns:a="http://schemas.openxmlformats.org/drawingml/2006/main">
              <a:ext uri="{FF2B5EF4-FFF2-40B4-BE49-F238E27FC236}">
                <a16:creationId xmlns:a16="http://schemas.microsoft.com/office/drawing/2014/main" id="{3421B9FB-19D5-4738-9999-A19D98FC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66925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13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313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FastAPI • REST</a:t>
            </a:r>
          </a:p>
        </p:txBody>
      </p:sp>
      <p:sp>
        <p:nvSpPr>
          <p:cNvPr id="22" name="API body">
            <a:extLst xmlns:a="http://schemas.openxmlformats.org/drawingml/2006/main">
              <a:ext uri="{FF2B5EF4-FFF2-40B4-BE49-F238E27FC236}">
                <a16:creationId xmlns:a16="http://schemas.microsoft.com/office/drawing/2014/main" id="{38C15E1A-CCD9-4AB6-82E5-066D025E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33625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7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Xác thực • tiếp nhận • điều phối</a:t>
            </a:r>
          </a:p>
        </p:txBody>
      </p:sp>
      <p:sp>
        <p:nvSpPr>
          <p:cNvPr id="23" name="Arrow actors web">
            <a:extLst xmlns:a="http://schemas.openxmlformats.org/drawingml/2006/main">
              <a:ext uri="{FF2B5EF4-FFF2-40B4-BE49-F238E27FC236}">
                <a16:creationId xmlns:a16="http://schemas.microsoft.com/office/drawing/2014/main" id="{C4B3C9F9-B9D5-4423-A580-ED9C8A95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050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725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Arrow web api">
            <a:extLst xmlns:a="http://schemas.openxmlformats.org/drawingml/2006/main">
              <a:ext uri="{FF2B5EF4-FFF2-40B4-BE49-F238E27FC236}">
                <a16:creationId xmlns:a16="http://schemas.microsoft.com/office/drawing/2014/main" id="{A91E88F7-41FE-4AED-944C-A1F703AB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050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725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659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Data store card">
            <a:extLst xmlns:a="http://schemas.openxmlformats.org/drawingml/2006/main">
              <a:ext uri="{FF2B5EF4-FFF2-40B4-BE49-F238E27FC236}">
                <a16:creationId xmlns:a16="http://schemas.microsoft.com/office/drawing/2014/main" id="{8F2FA90C-4D09-43EF-90AA-A4E51800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FE7F2"/>
            </a:solidFill>
            <a:prstDash val="solid"/>
          </a:ln>
        </p:spPr>
      </p:sp>
      <p:sp>
        <p:nvSpPr>
          <p:cNvPr id="26" name="Data store bar">
            <a:extLst xmlns:a="http://schemas.openxmlformats.org/drawingml/2006/main">
              <a:ext uri="{FF2B5EF4-FFF2-40B4-BE49-F238E27FC236}">
                <a16:creationId xmlns:a16="http://schemas.microsoft.com/office/drawing/2014/main" id="{C044947F-F6B8-46FD-B2BB-8A32E1A4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96F4"/>
          </a:solidFill>
          <a:ln xmlns:a="http://schemas.openxmlformats.org/drawingml/2006/main" w="0">
            <a:solidFill>
              <a:srgbClr val="3196F4"/>
            </a:solidFill>
            <a:prstDash val="solid"/>
          </a:ln>
        </p:spPr>
      </p:sp>
      <p:sp>
        <p:nvSpPr>
          <p:cNvPr id="27" name="Data overline">
            <a:extLst xmlns:a="http://schemas.openxmlformats.org/drawingml/2006/main">
              <a:ext uri="{FF2B5EF4-FFF2-40B4-BE49-F238E27FC236}">
                <a16:creationId xmlns:a16="http://schemas.microsoft.com/office/drawing/2014/main" id="{7180CBEB-9A66-45FB-81B7-045E2661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725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63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863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LƯU TRỮ • HẠ TẦNG THẬT</a:t>
            </a:r>
          </a:p>
        </p:txBody>
      </p:sp>
      <p:sp>
        <p:nvSpPr>
          <p:cNvPr id="28" name="Data title">
            <a:extLst xmlns:a="http://schemas.openxmlformats.org/drawingml/2006/main">
              <a:ext uri="{FF2B5EF4-FFF2-40B4-BE49-F238E27FC236}">
                <a16:creationId xmlns:a16="http://schemas.microsoft.com/office/drawing/2014/main" id="{09194D4F-DFEB-42F8-A166-F8BDB690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PostgreSQL 16 + pgvector</a:t>
            </a:r>
          </a:p>
        </p:txBody>
      </p:sp>
      <p:sp>
        <p:nvSpPr>
          <p:cNvPr id="29" name="Data body">
            <a:extLst xmlns:a="http://schemas.openxmlformats.org/drawingml/2006/main">
              <a:ext uri="{FF2B5EF4-FFF2-40B4-BE49-F238E27FC236}">
                <a16:creationId xmlns:a16="http://schemas.microsoft.com/office/drawing/2014/main" id="{791E57D7-DB4C-43F3-BFD9-84725F62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60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Câu hỏi • hồ sơ • tài liệu • chunks vector • audit.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DB thật trong Docker Compose; nội dung hiện là dữ liệu mẫu.</a:t>
            </a:r>
          </a:p>
        </p:txBody>
      </p:sp>
      <p:sp>
        <p:nvSpPr>
          <p:cNvPr id="30" name="Business services card">
            <a:extLst xmlns:a="http://schemas.openxmlformats.org/drawingml/2006/main">
              <a:ext uri="{FF2B5EF4-FFF2-40B4-BE49-F238E27FC236}">
                <a16:creationId xmlns:a16="http://schemas.microsoft.com/office/drawing/2014/main" id="{90256606-81EA-4046-8CC1-CE6C5F8D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3190875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FE7F2"/>
            </a:solidFill>
            <a:prstDash val="solid"/>
          </a:ln>
        </p:spPr>
      </p:sp>
      <p:sp>
        <p:nvSpPr>
          <p:cNvPr id="31" name="Business services bar">
            <a:extLst xmlns:a="http://schemas.openxmlformats.org/drawingml/2006/main">
              <a:ext uri="{FF2B5EF4-FFF2-40B4-BE49-F238E27FC236}">
                <a16:creationId xmlns:a16="http://schemas.microsoft.com/office/drawing/2014/main" id="{BA59E329-EEB0-4088-8DBF-AFF0EEC4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57150" cy="1495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9F6"/>
          </a:solidFill>
          <a:ln xmlns:a="http://schemas.openxmlformats.org/drawingml/2006/main" w="0">
            <a:solidFill>
              <a:srgbClr val="7659F6"/>
            </a:solidFill>
            <a:prstDash val="solid"/>
          </a:ln>
        </p:spPr>
      </p:sp>
      <p:sp>
        <p:nvSpPr>
          <p:cNvPr id="32" name="Services overline">
            <a:extLst xmlns:a="http://schemas.openxmlformats.org/drawingml/2006/main">
              <a:ext uri="{FF2B5EF4-FFF2-40B4-BE49-F238E27FC236}">
                <a16:creationId xmlns:a16="http://schemas.microsoft.com/office/drawing/2014/main" id="{C0C0505B-6870-4E66-A4A4-316B59DA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337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40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840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7659F6"/>
                </a:solidFill>
                <a:latin typeface="Arial"/>
                <a:ea typeface="Arial"/>
                <a:cs typeface="Arial"/>
              </a:rPr>
              <a:t>BACKEND SERVICES • ĐÃ IMPLEMENT</a:t>
            </a:r>
          </a:p>
        </p:txBody>
      </p:sp>
      <p:sp>
        <p:nvSpPr>
          <p:cNvPr id="33" name="Services title">
            <a:extLst xmlns:a="http://schemas.openxmlformats.org/drawingml/2006/main">
              <a:ext uri="{FF2B5EF4-FFF2-40B4-BE49-F238E27FC236}">
                <a16:creationId xmlns:a16="http://schemas.microsoft.com/office/drawing/2014/main" id="{5C00687C-6914-4D57-B906-23938267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242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Xử lý nghiệp vụ</a:t>
            </a:r>
          </a:p>
        </p:txBody>
      </p:sp>
      <p:sp>
        <p:nvSpPr>
          <p:cNvPr id="34" name="Services body">
            <a:extLst xmlns:a="http://schemas.openxmlformats.org/drawingml/2006/main">
              <a:ext uri="{FF2B5EF4-FFF2-40B4-BE49-F238E27FC236}">
                <a16:creationId xmlns:a16="http://schemas.microsoft.com/office/drawing/2014/main" id="{5597AE80-8D89-4546-B1DD-BE90328C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0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7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• Câu hỏi → ANSWER / CLARIFY / ESCALATE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• RAG + trích dẫn điều khoản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• Hồ sơ, ngoại lệ và Audit Trail</a:t>
            </a:r>
          </a:p>
        </p:txBody>
      </p:sp>
      <p:sp>
        <p:nvSpPr>
          <p:cNvPr id="35" name="API to services">
            <a:extLst xmlns:a="http://schemas.openxmlformats.org/drawingml/2006/main">
              <a:ext uri="{FF2B5EF4-FFF2-40B4-BE49-F238E27FC236}">
                <a16:creationId xmlns:a16="http://schemas.microsoft.com/office/drawing/2014/main" id="{7BCBE3E9-B67C-4E1C-B01F-A9DE8174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62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75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659F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6" name="Services to data">
            <a:extLst xmlns:a="http://schemas.openxmlformats.org/drawingml/2006/main">
              <a:ext uri="{FF2B5EF4-FFF2-40B4-BE49-F238E27FC236}">
                <a16:creationId xmlns:a16="http://schemas.microsoft.com/office/drawing/2014/main" id="{AC6E1A4D-2494-458B-B2BD-CB7AC6BE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43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650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37" name="AI providers card">
            <a:extLst xmlns:a="http://schemas.openxmlformats.org/drawingml/2006/main">
              <a:ext uri="{FF2B5EF4-FFF2-40B4-BE49-F238E27FC236}">
                <a16:creationId xmlns:a16="http://schemas.microsoft.com/office/drawing/2014/main" id="{1FDCBDD0-8A7B-49DC-A3E9-D11D7C85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3429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FE7F2"/>
            </a:solidFill>
            <a:prstDash val="solid"/>
          </a:ln>
        </p:spPr>
      </p:sp>
      <p:sp>
        <p:nvSpPr>
          <p:cNvPr id="38" name="AI providers bar">
            <a:extLst xmlns:a="http://schemas.openxmlformats.org/drawingml/2006/main">
              <a:ext uri="{FF2B5EF4-FFF2-40B4-BE49-F238E27FC236}">
                <a16:creationId xmlns:a16="http://schemas.microsoft.com/office/drawing/2014/main" id="{6AB84762-FA3F-49A7-A572-22C924A1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57150" cy="137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9C78"/>
          </a:solidFill>
          <a:ln xmlns:a="http://schemas.openxmlformats.org/drawingml/2006/main" w="0">
            <a:solidFill>
              <a:srgbClr val="169C78"/>
            </a:solidFill>
            <a:prstDash val="solid"/>
          </a:ln>
        </p:spPr>
      </p:sp>
      <p:sp>
        <p:nvSpPr>
          <p:cNvPr id="39" name="AI overline">
            <a:extLst xmlns:a="http://schemas.openxmlformats.org/drawingml/2006/main">
              <a:ext uri="{FF2B5EF4-FFF2-40B4-BE49-F238E27FC236}">
                <a16:creationId xmlns:a16="http://schemas.microsoft.com/office/drawing/2014/main" id="{6D5D25CA-2841-4542-BFD6-E5B4BF1A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40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840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69C78"/>
                </a:solidFill>
                <a:latin typeface="Arial"/>
                <a:ea typeface="Arial"/>
                <a:cs typeface="Arial"/>
              </a:rPr>
              <a:t>AI PROVIDER • CHỌN THEO CẤU HÌNH</a:t>
            </a:r>
          </a:p>
        </p:txBody>
      </p:sp>
      <p:sp>
        <p:nvSpPr>
          <p:cNvPr id="40" name="Gemini row">
            <a:extLst xmlns:a="http://schemas.openxmlformats.org/drawingml/2006/main">
              <a:ext uri="{FF2B5EF4-FFF2-40B4-BE49-F238E27FC236}">
                <a16:creationId xmlns:a16="http://schemas.microsoft.com/office/drawing/2014/main" id="{2D7B2F11-E90B-4720-8977-BB9D9B23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3124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CFAF5"/>
          </a:solidFill>
          <a:ln xmlns:a="http://schemas.openxmlformats.org/drawingml/2006/main" w="8573">
            <a:solidFill>
              <a:srgbClr val="B9EBDC"/>
            </a:solidFill>
            <a:prstDash val="solid"/>
          </a:ln>
        </p:spPr>
      </p:sp>
      <p:sp>
        <p:nvSpPr>
          <p:cNvPr id="41" name="Gemini label">
            <a:extLst xmlns:a="http://schemas.openxmlformats.org/drawingml/2006/main">
              <a:ext uri="{FF2B5EF4-FFF2-40B4-BE49-F238E27FC236}">
                <a16:creationId xmlns:a16="http://schemas.microsoft.com/office/drawing/2014/main" id="{52294799-4D9E-4DD7-9E9A-B15A4A79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8675"/>
            <a:ext cx="2933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30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30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pPr>
            <a:r>
              <a:rPr sz="930" b="1">
                <a:solidFill>
                  <a:srgbClr val="169C78"/>
                </a:solidFill>
                <a:latin typeface="Arial"/>
                <a:ea typeface="Arial"/>
                <a:cs typeface="Arial"/>
              </a:rPr>
              <a:t>Gemini API • dịch vụ thật</a:t>
            </a:r>
          </a:p>
        </p:txBody>
      </p:sp>
      <p:sp>
        <p:nvSpPr>
          <p:cNvPr id="42" name="Gemini detail">
            <a:extLst xmlns:a="http://schemas.openxmlformats.org/drawingml/2006/main">
              <a:ext uri="{FF2B5EF4-FFF2-40B4-BE49-F238E27FC236}">
                <a16:creationId xmlns:a16="http://schemas.microsoft.com/office/drawing/2014/main" id="{3026F239-CAA8-4107-B89C-C5134C7B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933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8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88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Chỉ dùng khi AI_MODE=gemini và có API key.</a:t>
            </a:r>
          </a:p>
        </p:txBody>
      </p:sp>
      <p:sp>
        <p:nvSpPr>
          <p:cNvPr id="43" name="Fake row">
            <a:extLst xmlns:a="http://schemas.openxmlformats.org/drawingml/2006/main">
              <a:ext uri="{FF2B5EF4-FFF2-40B4-BE49-F238E27FC236}">
                <a16:creationId xmlns:a16="http://schemas.microsoft.com/office/drawing/2014/main" id="{89AB48F3-8AF4-4E32-B696-CE60E733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3124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8573">
            <a:solidFill>
              <a:srgbClr val="F6D49B"/>
            </a:solidFill>
            <a:prstDash val="solid"/>
          </a:ln>
        </p:spPr>
      </p:sp>
      <p:sp>
        <p:nvSpPr>
          <p:cNvPr id="44" name="Fake label">
            <a:extLst xmlns:a="http://schemas.openxmlformats.org/drawingml/2006/main">
              <a:ext uri="{FF2B5EF4-FFF2-40B4-BE49-F238E27FC236}">
                <a16:creationId xmlns:a16="http://schemas.microsoft.com/office/drawing/2014/main" id="{4CD70908-F554-4BD8-98A0-A6176C30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14925"/>
            <a:ext cx="2933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23" b="1">
                <a:solidFill>
                  <a:srgbClr val="C779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23" b="1">
                <a:solidFill>
                  <a:srgbClr val="C77912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C77912"/>
                </a:solidFill>
                <a:latin typeface="Arial"/>
                <a:ea typeface="Arial"/>
                <a:cs typeface="Arial"/>
              </a:rPr>
              <a:t>FakeProvider • mô phỏng dev/test</a:t>
            </a:r>
          </a:p>
        </p:txBody>
      </p:sp>
      <p:sp>
        <p:nvSpPr>
          <p:cNvPr id="45" name="Fake detail">
            <a:extLst xmlns:a="http://schemas.openxmlformats.org/drawingml/2006/main">
              <a:ext uri="{FF2B5EF4-FFF2-40B4-BE49-F238E27FC236}">
                <a16:creationId xmlns:a16="http://schemas.microsoft.com/office/drawing/2014/main" id="{B40A53EE-4755-45B3-8BD9-6DC2D981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2933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8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88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Quy tắc xác định; không phải Gemini thật.</a:t>
            </a:r>
          </a:p>
        </p:txBody>
      </p:sp>
      <p:sp>
        <p:nvSpPr>
          <p:cNvPr id="46" name="AI note">
            <a:extLst xmlns:a="http://schemas.openxmlformats.org/drawingml/2006/main">
              <a:ext uri="{FF2B5EF4-FFF2-40B4-BE49-F238E27FC236}">
                <a16:creationId xmlns:a16="http://schemas.microsoft.com/office/drawing/2014/main" id="{174E4E7E-1353-49A9-8C7C-4BAB15AA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3124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49A"/>
                </a:solidFill>
                <a:latin typeface="Arial"/>
                <a:ea typeface="Arial"/>
                <a:cs typeface="Arial"/>
              </a:rPr>
              <a:t>Fake mode hiện dùng truy xuất từ khóa.</a:t>
            </a:r>
          </a:p>
        </p:txBody>
      </p:sp>
      <p:sp>
        <p:nvSpPr>
          <p:cNvPr id="47" name="Services to AI">
            <a:extLst xmlns:a="http://schemas.openxmlformats.org/drawingml/2006/main">
              <a:ext uri="{FF2B5EF4-FFF2-40B4-BE49-F238E27FC236}">
                <a16:creationId xmlns:a16="http://schemas.microsoft.com/office/drawing/2014/main" id="{1F04B0F6-22D8-40D1-8B38-56CBE137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650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9C78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48" name="Human review card">
            <a:extLst xmlns:a="http://schemas.openxmlformats.org/drawingml/2006/main">
              <a:ext uri="{FF2B5EF4-FFF2-40B4-BE49-F238E27FC236}">
                <a16:creationId xmlns:a16="http://schemas.microsoft.com/office/drawing/2014/main" id="{D40D3B45-88CD-4645-817E-6280377A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14875"/>
            <a:ext cx="3190875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FE7F2"/>
            </a:solidFill>
            <a:prstDash val="solid"/>
          </a:ln>
        </p:spPr>
      </p:sp>
      <p:sp>
        <p:nvSpPr>
          <p:cNvPr id="49" name="Human review bar">
            <a:extLst xmlns:a="http://schemas.openxmlformats.org/drawingml/2006/main">
              <a:ext uri="{FF2B5EF4-FFF2-40B4-BE49-F238E27FC236}">
                <a16:creationId xmlns:a16="http://schemas.microsoft.com/office/drawing/2014/main" id="{DF94A744-FA40-4686-A708-B93BD7B5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14875"/>
            <a:ext cx="57150" cy="981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9C78"/>
          </a:solidFill>
          <a:ln xmlns:a="http://schemas.openxmlformats.org/drawingml/2006/main" w="0">
            <a:solidFill>
              <a:srgbClr val="169C78"/>
            </a:solidFill>
            <a:prstDash val="solid"/>
          </a:ln>
        </p:spPr>
      </p:sp>
      <p:sp>
        <p:nvSpPr>
          <p:cNvPr id="50" name="Human overline">
            <a:extLst xmlns:a="http://schemas.openxmlformats.org/drawingml/2006/main">
              <a:ext uri="{FF2B5EF4-FFF2-40B4-BE49-F238E27FC236}">
                <a16:creationId xmlns:a16="http://schemas.microsoft.com/office/drawing/2014/main" id="{AF93653D-C71A-4228-A5F8-C61BC09B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720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32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832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pPr>
            <a:r>
              <a:rPr sz="832" b="1">
                <a:solidFill>
                  <a:srgbClr val="169C78"/>
                </a:solidFill>
                <a:latin typeface="Arial"/>
                <a:ea typeface="Arial"/>
                <a:cs typeface="Arial"/>
              </a:rPr>
              <a:t>HUMAN-IN-THE-LOOP • CÓ LUỒNG DUYỆT</a:t>
            </a:r>
          </a:p>
        </p:txBody>
      </p:sp>
      <p:sp>
        <p:nvSpPr>
          <p:cNvPr id="51" name="Human title">
            <a:extLst xmlns:a="http://schemas.openxmlformats.org/drawingml/2006/main">
              <a:ext uri="{FF2B5EF4-FFF2-40B4-BE49-F238E27FC236}">
                <a16:creationId xmlns:a16="http://schemas.microsoft.com/office/drawing/2014/main" id="{77D25580-0FA3-4072-9E15-C438D600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53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63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Giảng viên giữ quyết định cuối</a:t>
            </a:r>
          </a:p>
        </p:txBody>
      </p:sp>
      <p:sp>
        <p:nvSpPr>
          <p:cNvPr id="52" name="Human body">
            <a:extLst xmlns:a="http://schemas.openxmlformats.org/drawingml/2006/main">
              <a:ext uri="{FF2B5EF4-FFF2-40B4-BE49-F238E27FC236}">
                <a16:creationId xmlns:a16="http://schemas.microsoft.com/office/drawing/2014/main" id="{00086263-2D87-4705-8762-E912B01A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101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79"/>
          </a:bodyPr>
          <a:lstStyle xmlns:a="http://schemas.openxmlformats.org/drawingml/2006/main">
            <a:defPPr algn="l">
              <a:defRPr sz="88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Case ESCALATE → inbox → duyệt / từ chối / hỏi thêm; ghi audit. Reviewer hiện dùng tài khoản demo lecturer-01.</a:t>
            </a:r>
          </a:p>
        </p:txBody>
      </p:sp>
      <p:sp>
        <p:nvSpPr>
          <p:cNvPr id="53" name="Escalation arrow">
            <a:extLst xmlns:a="http://schemas.openxmlformats.org/drawingml/2006/main">
              <a:ext uri="{FF2B5EF4-FFF2-40B4-BE49-F238E27FC236}">
                <a16:creationId xmlns:a16="http://schemas.microsoft.com/office/drawing/2014/main" id="{DB5FC7FB-10D7-401F-8B60-2552BD6F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1485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9C7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54" name="Deployment panel">
            <a:extLst xmlns:a="http://schemas.openxmlformats.org/drawingml/2006/main">
              <a:ext uri="{FF2B5EF4-FFF2-40B4-BE49-F238E27FC236}">
                <a16:creationId xmlns:a16="http://schemas.microsoft.com/office/drawing/2014/main" id="{674DF2B2-D6EA-4352-9A08-7FB3E5A7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33500"/>
            <a:ext cx="3495675" cy="4572000"/>
          </a:xfrm>
          <a:prstGeom xmlns:a="http://schemas.openxmlformats.org/drawingml/2006/main" prst="roundRect">
            <a:avLst>
              <a:gd name="adj" fmla="val 21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FE7F2"/>
            </a:solidFill>
            <a:prstDash val="solid"/>
          </a:ln>
        </p:spPr>
      </p:sp>
      <p:sp>
        <p:nvSpPr>
          <p:cNvPr id="55" name="Deployment heading">
            <a:extLst xmlns:a="http://schemas.openxmlformats.org/drawingml/2006/main">
              <a:ext uri="{FF2B5EF4-FFF2-40B4-BE49-F238E27FC236}">
                <a16:creationId xmlns:a16="http://schemas.microsoft.com/office/drawing/2014/main" id="{F5244E2C-FF37-4919-8D30-454D484E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382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MÔ HÌNH TRIỂN KHAI</a:t>
            </a:r>
          </a:p>
        </p:txBody>
      </p:sp>
      <p:sp>
        <p:nvSpPr>
          <p:cNvPr id="56" name="Local deployment card">
            <a:extLst xmlns:a="http://schemas.openxmlformats.org/drawingml/2006/main">
              <a:ext uri="{FF2B5EF4-FFF2-40B4-BE49-F238E27FC236}">
                <a16:creationId xmlns:a16="http://schemas.microsoft.com/office/drawing/2014/main" id="{76B392DF-8CD8-49DE-926E-C463CDB8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3114675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10478">
            <a:solidFill>
              <a:srgbClr val="C9E2FF"/>
            </a:solidFill>
            <a:prstDash val="solid"/>
          </a:ln>
        </p:spPr>
      </p:sp>
      <p:sp>
        <p:nvSpPr>
          <p:cNvPr id="57" name="Local badge bg">
            <a:extLst xmlns:a="http://schemas.openxmlformats.org/drawingml/2006/main">
              <a:ext uri="{FF2B5EF4-FFF2-40B4-BE49-F238E27FC236}">
                <a16:creationId xmlns:a16="http://schemas.microsoft.com/office/drawing/2014/main" id="{2A79BC63-2932-4406-84DD-3A7F6971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24050"/>
            <a:ext cx="1143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196F4"/>
          </a:solidFill>
          <a:ln xmlns:a="http://schemas.openxmlformats.org/drawingml/2006/main" w="7620">
            <a:solidFill>
              <a:srgbClr val="3196F4"/>
            </a:solidFill>
            <a:prstDash val="solid"/>
          </a:ln>
        </p:spPr>
      </p:sp>
      <p:sp>
        <p:nvSpPr>
          <p:cNvPr id="58" name="Local badge label">
            <a:extLst xmlns:a="http://schemas.openxmlformats.org/drawingml/2006/main">
              <a:ext uri="{FF2B5EF4-FFF2-40B4-BE49-F238E27FC236}">
                <a16:creationId xmlns:a16="http://schemas.microsoft.com/office/drawing/2014/main" id="{AC331713-EFC1-4B4B-8065-44A0F986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33575"/>
            <a:ext cx="990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/ DEMO</a:t>
            </a:r>
          </a:p>
        </p:txBody>
      </p:sp>
      <p:sp>
        <p:nvSpPr>
          <p:cNvPr id="59" name="Local title">
            <a:extLst xmlns:a="http://schemas.openxmlformats.org/drawingml/2006/main">
              <a:ext uri="{FF2B5EF4-FFF2-40B4-BE49-F238E27FC236}">
                <a16:creationId xmlns:a16="http://schemas.microsoft.com/office/drawing/2014/main" id="{91FE9DF4-3B02-4CC8-9062-0A782D64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Docker Compose</a:t>
            </a:r>
          </a:p>
        </p:txBody>
      </p:sp>
      <p:sp>
        <p:nvSpPr>
          <p:cNvPr id="60" name="Local stack">
            <a:extLst xmlns:a="http://schemas.openxmlformats.org/drawingml/2006/main">
              <a:ext uri="{FF2B5EF4-FFF2-40B4-BE49-F238E27FC236}">
                <a16:creationId xmlns:a16="http://schemas.microsoft.com/office/drawing/2014/main" id="{7AB4C1C0-A20A-44FA-951F-899E7EDB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2724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web  •  React build + Nginx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api   •  FastAPI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db    •  PostgreSQL 16 + pgvector</a:t>
            </a:r>
          </a:p>
        </p:txBody>
      </p:sp>
      <p:sp>
        <p:nvSpPr>
          <p:cNvPr id="61" name="Local demo note bg">
            <a:extLst xmlns:a="http://schemas.openxmlformats.org/drawingml/2006/main">
              <a:ext uri="{FF2B5EF4-FFF2-40B4-BE49-F238E27FC236}">
                <a16:creationId xmlns:a16="http://schemas.microsoft.com/office/drawing/2014/main" id="{45BE262F-7B91-44B9-8F18-4EB0A2B5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00400"/>
            <a:ext cx="2790825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6668">
            <a:solidFill>
              <a:srgbClr val="F6D49B"/>
            </a:solidFill>
            <a:prstDash val="solid"/>
          </a:ln>
        </p:spPr>
      </p:sp>
      <p:sp>
        <p:nvSpPr>
          <p:cNvPr id="62" name="Local demo note">
            <a:extLst xmlns:a="http://schemas.openxmlformats.org/drawingml/2006/main">
              <a:ext uri="{FF2B5EF4-FFF2-40B4-BE49-F238E27FC236}">
                <a16:creationId xmlns:a16="http://schemas.microsoft.com/office/drawing/2014/main" id="{7C87CB72-A103-4CBB-9CB8-29A8C37D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2289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48" b="1">
                <a:solidFill>
                  <a:srgbClr val="C779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848" b="1">
                <a:solidFill>
                  <a:srgbClr val="C77912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C77912"/>
                </a:solidFill>
                <a:latin typeface="Arial"/>
                <a:ea typeface="Arial"/>
                <a:cs typeface="Arial"/>
              </a:rPr>
              <a:t>Mặc định: AI fake • role switch • dữ liệu seed</a:t>
            </a:r>
          </a:p>
        </p:txBody>
      </p:sp>
      <p:sp>
        <p:nvSpPr>
          <p:cNvPr id="63" name="Production deployment card">
            <a:extLst xmlns:a="http://schemas.openxmlformats.org/drawingml/2006/main">
              <a:ext uri="{FF2B5EF4-FFF2-40B4-BE49-F238E27FC236}">
                <a16:creationId xmlns:a16="http://schemas.microsoft.com/office/drawing/2014/main" id="{28C54EAA-77BC-4B4C-AEF3-1E029C2D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52850"/>
            <a:ext cx="31146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6D49B"/>
            </a:solidFill>
            <a:prstDash val="solid"/>
          </a:ln>
        </p:spPr>
      </p:sp>
      <p:sp>
        <p:nvSpPr>
          <p:cNvPr id="64" name="Production badge bg">
            <a:extLst xmlns:a="http://schemas.openxmlformats.org/drawingml/2006/main">
              <a:ext uri="{FF2B5EF4-FFF2-40B4-BE49-F238E27FC236}">
                <a16:creationId xmlns:a16="http://schemas.microsoft.com/office/drawing/2014/main" id="{8DD1ACED-97F5-498F-A974-263EE823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67150"/>
            <a:ext cx="15621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7620">
            <a:solidFill>
              <a:srgbClr val="F6D49B"/>
            </a:solidFill>
            <a:prstDash val="solid"/>
          </a:ln>
        </p:spPr>
      </p:sp>
      <p:sp>
        <p:nvSpPr>
          <p:cNvPr id="65" name="Production badge label">
            <a:extLst xmlns:a="http://schemas.openxmlformats.org/drawingml/2006/main">
              <a:ext uri="{FF2B5EF4-FFF2-40B4-BE49-F238E27FC236}">
                <a16:creationId xmlns:a16="http://schemas.microsoft.com/office/drawing/2014/main" id="{6D2DA8C6-DC30-41C1-8774-8114F551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76675"/>
            <a:ext cx="1409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63" b="1">
                <a:solidFill>
                  <a:srgbClr val="C779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863" b="1">
                <a:solidFill>
                  <a:srgbClr val="C77912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C77912"/>
                </a:solidFill>
                <a:latin typeface="Arial"/>
                <a:ea typeface="Arial"/>
                <a:cs typeface="Arial"/>
              </a:rPr>
              <a:t>PRODUCTION TARGET</a:t>
            </a:r>
          </a:p>
        </p:txBody>
      </p:sp>
      <p:sp>
        <p:nvSpPr>
          <p:cNvPr id="66" name="Production title">
            <a:extLst xmlns:a="http://schemas.openxmlformats.org/drawingml/2006/main">
              <a:ext uri="{FF2B5EF4-FFF2-40B4-BE49-F238E27FC236}">
                <a16:creationId xmlns:a16="http://schemas.microsoft.com/office/drawing/2014/main" id="{FC17DD9F-478D-4D50-88AD-A8829129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52900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77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177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177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Vercel → Render → PostgreSQL</a:t>
            </a:r>
          </a:p>
        </p:txBody>
      </p:sp>
      <p:sp>
        <p:nvSpPr>
          <p:cNvPr id="67" name="Production stack">
            <a:extLst xmlns:a="http://schemas.openxmlformats.org/drawingml/2006/main">
              <a:ext uri="{FF2B5EF4-FFF2-40B4-BE49-F238E27FC236}">
                <a16:creationId xmlns:a16="http://schemas.microsoft.com/office/drawing/2014/main" id="{622E24D6-0EA5-409F-94FF-784F9B7B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81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53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53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53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Web: Vercel  →  API: Render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53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53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DB: PostgreSQL có pgvector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53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53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AI_MODE=gemini • AUTH_MODE=password</a:t>
            </a:r>
          </a:p>
        </p:txBody>
      </p:sp>
      <p:sp>
        <p:nvSpPr>
          <p:cNvPr id="68" name="Production caveat bg">
            <a:extLst xmlns:a="http://schemas.openxmlformats.org/drawingml/2006/main">
              <a:ext uri="{FF2B5EF4-FFF2-40B4-BE49-F238E27FC236}">
                <a16:creationId xmlns:a16="http://schemas.microsoft.com/office/drawing/2014/main" id="{503636F3-EBE6-4FFC-95C2-01A1BA9C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24450"/>
            <a:ext cx="2790825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6668">
            <a:solidFill>
              <a:srgbClr val="F6D49B"/>
            </a:solidFill>
            <a:prstDash val="solid"/>
          </a:ln>
        </p:spPr>
      </p:sp>
      <p:sp>
        <p:nvSpPr>
          <p:cNvPr id="69" name="Production caveat">
            <a:extLst xmlns:a="http://schemas.openxmlformats.org/drawingml/2006/main">
              <a:ext uri="{FF2B5EF4-FFF2-40B4-BE49-F238E27FC236}">
                <a16:creationId xmlns:a16="http://schemas.microsoft.com/office/drawing/2014/main" id="{01221BDF-5F17-4148-B518-7679DAE9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5162550"/>
            <a:ext cx="2619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78" b="1">
                <a:solidFill>
                  <a:srgbClr val="C779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878" b="1">
                <a:solidFill>
                  <a:srgbClr val="C77912"/>
                </a:solidFill>
                <a:latin typeface="Arial"/>
                <a:ea typeface="Arial"/>
                <a:cs typeface="Arial"/>
              </a:defRPr>
            </a:pPr>
            <a:r>
              <a:rPr sz="878" b="1">
                <a:solidFill>
                  <a:srgbClr val="C77912"/>
                </a:solidFill>
                <a:latin typeface="Arial"/>
                <a:ea typeface="Arial"/>
                <a:cs typeface="Arial"/>
              </a:rPr>
              <a:t>Repo có cấu hình deployment; chưa xác nhận cloud đang chạy/live.</a:t>
            </a:r>
          </a:p>
        </p:txBody>
      </p:sp>
      <p:sp>
        <p:nvSpPr>
          <p:cNvPr id="70" name="Legend panel">
            <a:extLst xmlns:a="http://schemas.openxmlformats.org/drawingml/2006/main">
              <a:ext uri="{FF2B5EF4-FFF2-40B4-BE49-F238E27FC236}">
                <a16:creationId xmlns:a16="http://schemas.microsoft.com/office/drawing/2014/main" id="{CC5EB2D0-1FF5-4639-A6BA-2FA66E5A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67425"/>
            <a:ext cx="11277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2"/>
            </a:solidFill>
            <a:prstDash val="solid"/>
          </a:ln>
        </p:spPr>
      </p:sp>
      <p:sp>
        <p:nvSpPr>
          <p:cNvPr id="71" name="Legend implemented bg">
            <a:extLst xmlns:a="http://schemas.openxmlformats.org/drawingml/2006/main">
              <a:ext uri="{FF2B5EF4-FFF2-40B4-BE49-F238E27FC236}">
                <a16:creationId xmlns:a16="http://schemas.microsoft.com/office/drawing/2014/main" id="{2447F3B9-074F-4476-A860-BEB81CC9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43625"/>
            <a:ext cx="21621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7620">
            <a:solidFill>
              <a:srgbClr val="C9E2FF"/>
            </a:solidFill>
            <a:prstDash val="solid"/>
          </a:ln>
        </p:spPr>
      </p:sp>
      <p:sp>
        <p:nvSpPr>
          <p:cNvPr id="72" name="Legend implemented label">
            <a:extLst xmlns:a="http://schemas.openxmlformats.org/drawingml/2006/main">
              <a:ext uri="{FF2B5EF4-FFF2-40B4-BE49-F238E27FC236}">
                <a16:creationId xmlns:a16="http://schemas.microsoft.com/office/drawing/2014/main" id="{EBC0A0C6-7CAA-464A-8919-AAC7CE3F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2009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63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863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CÓ CODE / HẠ TẦNG LOCAL</a:t>
            </a:r>
          </a:p>
        </p:txBody>
      </p:sp>
      <p:sp>
        <p:nvSpPr>
          <p:cNvPr id="73" name="Legend simulated bg">
            <a:extLst xmlns:a="http://schemas.openxmlformats.org/drawingml/2006/main">
              <a:ext uri="{FF2B5EF4-FFF2-40B4-BE49-F238E27FC236}">
                <a16:creationId xmlns:a16="http://schemas.microsoft.com/office/drawing/2014/main" id="{521207D9-300E-4768-98BF-E63E6437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43625"/>
            <a:ext cx="2286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7620">
            <a:solidFill>
              <a:srgbClr val="F6D49B"/>
            </a:solidFill>
            <a:prstDash val="solid"/>
          </a:ln>
        </p:spPr>
      </p:sp>
      <p:sp>
        <p:nvSpPr>
          <p:cNvPr id="74" name="Legend simulated label">
            <a:extLst xmlns:a="http://schemas.openxmlformats.org/drawingml/2006/main">
              <a:ext uri="{FF2B5EF4-FFF2-40B4-BE49-F238E27FC236}">
                <a16:creationId xmlns:a16="http://schemas.microsoft.com/office/drawing/2014/main" id="{06C86F0A-72BE-47B5-985A-6F8A8903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153150"/>
            <a:ext cx="2133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63" b="1">
                <a:solidFill>
                  <a:srgbClr val="C779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863" b="1">
                <a:solidFill>
                  <a:srgbClr val="C77912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C77912"/>
                </a:solidFill>
                <a:latin typeface="Arial"/>
                <a:ea typeface="Arial"/>
                <a:cs typeface="Arial"/>
              </a:rPr>
              <a:t>GIẢ LẬP: AI fake + data seed</a:t>
            </a:r>
          </a:p>
        </p:txBody>
      </p:sp>
      <p:sp>
        <p:nvSpPr>
          <p:cNvPr id="75" name="Legend cloud bg">
            <a:extLst xmlns:a="http://schemas.openxmlformats.org/drawingml/2006/main">
              <a:ext uri="{FF2B5EF4-FFF2-40B4-BE49-F238E27FC236}">
                <a16:creationId xmlns:a16="http://schemas.microsoft.com/office/drawing/2014/main" id="{97351E2F-8CF0-4BD5-946E-659E775C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6143625"/>
            <a:ext cx="2857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7620">
            <a:solidFill>
              <a:srgbClr val="DFE7F2"/>
            </a:solidFill>
            <a:prstDash val="solid"/>
          </a:ln>
        </p:spPr>
      </p:sp>
      <p:sp>
        <p:nvSpPr>
          <p:cNvPr id="76" name="Legend cloud label">
            <a:extLst xmlns:a="http://schemas.openxmlformats.org/drawingml/2006/main">
              <a:ext uri="{FF2B5EF4-FFF2-40B4-BE49-F238E27FC236}">
                <a16:creationId xmlns:a16="http://schemas.microsoft.com/office/drawing/2014/main" id="{C97A7D7E-BB68-4348-957B-A759BE39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6153150"/>
            <a:ext cx="2705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63" b="1">
                <a:solidFill>
                  <a:srgbClr val="6574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863" b="1">
                <a:solidFill>
                  <a:srgbClr val="65749A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65749A"/>
                </a:solidFill>
                <a:latin typeface="Arial"/>
                <a:ea typeface="Arial"/>
                <a:cs typeface="Arial"/>
              </a:rPr>
              <a:t>CLOUD: cấu hình có, live chưa xác minh</a:t>
            </a:r>
          </a:p>
        </p:txBody>
      </p:sp>
      <p:sp>
        <p:nvSpPr>
          <p:cNvPr id="77" name="Data caveat">
            <a:extLst xmlns:a="http://schemas.openxmlformats.org/drawingml/2006/main">
              <a:ext uri="{FF2B5EF4-FFF2-40B4-BE49-F238E27FC236}">
                <a16:creationId xmlns:a16="http://schemas.microsoft.com/office/drawing/2014/main" id="{42E2CCC7-21B0-4014-976B-1DF49A0D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0915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38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Tài khoản, môn học, policy docs đang là seed/demo; chưa thấy kết nối LMS/SIS trong repo.</a:t>
            </a:r>
          </a:p>
        </p:txBody>
      </p:sp>
    </p:spTree>
    <p:extLst>
      <p:ext uri="{BB962C8B-B14F-4D97-AF65-F5344CB8AC3E}">
        <p14:creationId xmlns:p14="http://schemas.microsoft.com/office/powerpoint/2010/main" val="567741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2026-10-15T12:09:39.2750000Z</dcterms:created>
  <dcterms:modified xsi:type="dcterms:W3CDTF">2026-10-15T12:09:39.2750000Z</dcterms:modified>
</coreProperties>
</file>