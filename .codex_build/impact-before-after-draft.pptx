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d9bd927f724405" /><Relationship Type="http://schemas.openxmlformats.org/officeDocument/2006/relationships/extended-properties" Target="/docProps/app.xml" Id="R51ae2d60a9c04d5b" /><Relationship Type="http://schemas.openxmlformats.org/officeDocument/2006/relationships/officeDocument" Target="/ppt/presentation.xml" Id="Rb26187efeaa046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0a4ca4c2fb4c50"/>
  </p:sldMasterIdLst>
  <p:notesMasterIdLst>
    <p:notesMasterId xmlns:r="http://schemas.openxmlformats.org/officeDocument/2006/relationships" r:id="R0a3d086e14714e9f"/>
  </p:notesMasterIdLst>
  <p:sldIdLst>
    <p:sldId xmlns:r="http://schemas.openxmlformats.org/officeDocument/2006/relationships" id="256" r:id="Re60baff777fd45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36f1203f6940e8" /><Relationship Type="http://schemas.openxmlformats.org/officeDocument/2006/relationships/slideMaster" Target="/ppt/slideMasters/slideMaster1.xml" Id="R9c0a4ca4c2fb4c50" /><Relationship Type="http://schemas.openxmlformats.org/officeDocument/2006/relationships/notesMaster" Target="/ppt/notesMasters/notesMaster1.xml" Id="R0a3d086e14714e9f" /><Relationship Type="http://schemas.openxmlformats.org/officeDocument/2006/relationships/presProps" Target="/ppt/presProps.xml" Id="R0bda796e1a464be4" /><Relationship Type="http://schemas.openxmlformats.org/officeDocument/2006/relationships/tableStyles" Target="/ppt/tableStyles.xml" Id="Re62e803254f5477b" /><Relationship Type="http://schemas.openxmlformats.org/officeDocument/2006/relationships/slide" Target="/ppt/slides/slide1.xml" Id="Re60baff777fd45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606665223f4b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7ec46206fc497f" /><Relationship Type="http://schemas.openxmlformats.org/officeDocument/2006/relationships/notesMaster" Target="/ppt/notesMasters/notesMaster1.xml" Id="R148844e2a61749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khung đo lường, không phải kết quả triển khai. Bộ đánh giá harness/datasets/evaluation.jsonl hiện có 20 ca thuộc 5 nhóm: routine (6), missing_fact (4), out_of_policy (4), authority (4), suspicious (2). Dùng cùng bộ ca và cùng rubric để chấm hướng xử lý/căn cứ. Với thời gian phản hồi, so sánh baseline và pilot trong các nhóm môn học, loại yêu cầu và khoảng quan sát tương đương; lấy mốc từ QUESTION_SUBMITTED đến sự kiện phản hồi tương ứng trong Audit Trail. Tỷ lệ không cần giảng viên = số yêu cầu đủ điều kiện không chuyển ESCALATE / tổng yêu cầu đủ điều kiện.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8a840727c48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77528f24849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2feb6eef845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64249515445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5c138a43042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654fa40124c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0232ED-079C-4B68-954C-95EADA413E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77FB70-E553-4271-8386-CE84E50E7A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06E997-440D-4B3A-9773-2D6FB1C96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D05158-F522-410D-8B97-0E908FB6C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73F8DD-411E-40DE-86E3-33078C768B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499FBA-D531-4699-B979-3DFD9DEA0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0DDB79-B791-4A59-A04F-254D418785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BD3CCC-2C00-4096-B9EA-A065335941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CE01D3-3B8A-4463-8D3B-EE8086E53A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8720F2-3681-46D5-A719-5F0782A34F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fbbfd0dcb47ca" /><Relationship Type="http://schemas.openxmlformats.org/officeDocument/2006/relationships/slideLayout" Target="/ppt/slideLayouts/slideLayout1.xml" Id="R334aef3199e54db2" /><Relationship Type="http://schemas.openxmlformats.org/officeDocument/2006/relationships/slideLayout" Target="/ppt/slideLayouts/slideLayout2.xml" Id="Rb38ef8a554bb48b8" /><Relationship Type="http://schemas.openxmlformats.org/officeDocument/2006/relationships/slideLayout" Target="/ppt/slideLayouts/slideLayout3.xml" Id="Rd5a7c2d348494a10" /><Relationship Type="http://schemas.openxmlformats.org/officeDocument/2006/relationships/slideLayout" Target="/ppt/slideLayouts/slideLayout4.xml" Id="R7f6aa60e7f684b62" /><Relationship Type="http://schemas.openxmlformats.org/officeDocument/2006/relationships/slideLayout" Target="/ppt/slideLayouts/slideLayout5.xml" Id="Rb90989722b614c57" /><Relationship Type="http://schemas.openxmlformats.org/officeDocument/2006/relationships/slideLayout" Target="/ppt/slideLayouts/slideLayout6.xml" Id="R21f25bc163fa41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4aef3199e54db2"/>
    <p:sldLayoutId xmlns:r="http://schemas.openxmlformats.org/officeDocument/2006/relationships" id="2147483650" r:id="Rb38ef8a554bb48b8"/>
    <p:sldLayoutId xmlns:r="http://schemas.openxmlformats.org/officeDocument/2006/relationships" id="2147483651" r:id="Rd5a7c2d348494a10"/>
    <p:sldLayoutId xmlns:r="http://schemas.openxmlformats.org/officeDocument/2006/relationships" id="2147483652" r:id="R7f6aa60e7f684b62"/>
    <p:sldLayoutId xmlns:r="http://schemas.openxmlformats.org/officeDocument/2006/relationships" id="2147483653" r:id="Rb90989722b614c57"/>
    <p:sldLayoutId xmlns:r="http://schemas.openxmlformats.org/officeDocument/2006/relationships" id="2147483654" r:id="R21f25bc163fa41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358ee3e0a4a22" /><Relationship Type="http://schemas.openxmlformats.org/officeDocument/2006/relationships/notesSlide" Target="/ppt/notesSlides/notesSlide1.xml" Id="R036a368271fc44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Eyebrow">
            <a:extLst xmlns:a="http://schemas.openxmlformats.org/drawingml/2006/main">
              <a:ext uri="{FF2B5EF4-FFF2-40B4-BE49-F238E27FC236}">
                <a16:creationId xmlns:a16="http://schemas.microsoft.com/office/drawing/2014/main" id="{F2B4E0BC-2ED1-4033-98AC-BD487C9C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AER AI REFEREE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6DAB0C-BE14-40A6-8DB5-276C726B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70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Kế hoạch đo lường tác động của AER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1114214-111F-496D-801D-54BB0623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49A"/>
                </a:solidFill>
                <a:latin typeface="Arial"/>
                <a:ea typeface="Arial"/>
                <a:cs typeface="Arial"/>
              </a:rPr>
              <a:t>Chưa có dữ liệu triển khai — cần đo baseline và pilot theo cùng một cách.</a:t>
            </a:r>
          </a:p>
        </p:txBody>
      </p:sp>
      <p:sp>
        <p:nvSpPr>
          <p:cNvPr id="4" name="Before AER panel">
            <a:extLst xmlns:a="http://schemas.openxmlformats.org/drawingml/2006/main">
              <a:ext uri="{FF2B5EF4-FFF2-40B4-BE49-F238E27FC236}">
                <a16:creationId xmlns:a16="http://schemas.microsoft.com/office/drawing/2014/main" id="{9D31D901-97E1-452C-9227-09B9A588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4810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0E7F2"/>
            </a:solidFill>
            <a:prstDash val="solid"/>
          </a:ln>
        </p:spPr>
      </p:sp>
      <p:sp>
        <p:nvSpPr>
          <p:cNvPr id="5" name="Before AER accent">
            <a:extLst xmlns:a="http://schemas.openxmlformats.org/drawingml/2006/main">
              <a:ext uri="{FF2B5EF4-FFF2-40B4-BE49-F238E27FC236}">
                <a16:creationId xmlns:a16="http://schemas.microsoft.com/office/drawing/2014/main" id="{4879195B-CB9B-4660-9646-257A5234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96F4"/>
          </a:solidFill>
          <a:ln xmlns:a="http://schemas.openxmlformats.org/drawingml/2006/main" w="0">
            <a:solidFill>
              <a:srgbClr val="3196F4"/>
            </a:solidFill>
            <a:prstDash val="solid"/>
          </a:ln>
        </p:spPr>
      </p:sp>
      <p:sp>
        <p:nvSpPr>
          <p:cNvPr id="6" name="Before AER eyebrow">
            <a:extLst xmlns:a="http://schemas.openxmlformats.org/drawingml/2006/main">
              <a:ext uri="{FF2B5EF4-FFF2-40B4-BE49-F238E27FC236}">
                <a16:creationId xmlns:a16="http://schemas.microsoft.com/office/drawing/2014/main" id="{B8B732A7-40DF-43E4-8610-14427914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76375"/>
            <a:ext cx="433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Before AER title">
            <a:extLst xmlns:a="http://schemas.openxmlformats.org/drawingml/2006/main">
              <a:ext uri="{FF2B5EF4-FFF2-40B4-BE49-F238E27FC236}">
                <a16:creationId xmlns:a16="http://schemas.microsoft.com/office/drawing/2014/main" id="{8B552315-3C15-485F-8B4D-B1EFBE22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24025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Quy trình hiện tại</a:t>
            </a:r>
          </a:p>
        </p:txBody>
      </p:sp>
      <p:sp>
        <p:nvSpPr>
          <p:cNvPr id="8" name="Before AER detail">
            <a:extLst xmlns:a="http://schemas.openxmlformats.org/drawingml/2006/main">
              <a:ext uri="{FF2B5EF4-FFF2-40B4-BE49-F238E27FC236}">
                <a16:creationId xmlns:a16="http://schemas.microsoft.com/office/drawing/2014/main" id="{26A72648-D9AC-471C-86D0-36CDF2E0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47875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6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Ghi nhận thời điểm nhận yêu cầu, phản hồi và mức giảng viên tham gia.</a:t>
            </a:r>
          </a:p>
        </p:txBody>
      </p:sp>
      <p:sp>
        <p:nvSpPr>
          <p:cNvPr id="9" name="After AER panel">
            <a:extLst xmlns:a="http://schemas.openxmlformats.org/drawingml/2006/main">
              <a:ext uri="{FF2B5EF4-FFF2-40B4-BE49-F238E27FC236}">
                <a16:creationId xmlns:a16="http://schemas.microsoft.com/office/drawing/2014/main" id="{D8F8E17A-7178-408E-9673-94E48B7B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362075"/>
            <a:ext cx="4810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0E7F2"/>
            </a:solidFill>
            <a:prstDash val="solid"/>
          </a:ln>
        </p:spPr>
      </p:sp>
      <p:sp>
        <p:nvSpPr>
          <p:cNvPr id="10" name="After AER accent">
            <a:extLst xmlns:a="http://schemas.openxmlformats.org/drawingml/2006/main">
              <a:ext uri="{FF2B5EF4-FFF2-40B4-BE49-F238E27FC236}">
                <a16:creationId xmlns:a16="http://schemas.microsoft.com/office/drawing/2014/main" id="{8BB71531-131F-4602-8A6B-35A544E7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362075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9F6"/>
          </a:solidFill>
          <a:ln xmlns:a="http://schemas.openxmlformats.org/drawingml/2006/main" w="0">
            <a:solidFill>
              <a:srgbClr val="7659F6"/>
            </a:solidFill>
            <a:prstDash val="solid"/>
          </a:ln>
        </p:spPr>
      </p:sp>
      <p:sp>
        <p:nvSpPr>
          <p:cNvPr id="11" name="After AER eyebrow">
            <a:extLst xmlns:a="http://schemas.openxmlformats.org/drawingml/2006/main">
              <a:ext uri="{FF2B5EF4-FFF2-40B4-BE49-F238E27FC236}">
                <a16:creationId xmlns:a16="http://schemas.microsoft.com/office/drawing/2014/main" id="{E47B12B1-F326-45BF-9DC2-9662A873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76375"/>
            <a:ext cx="433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59F6"/>
                </a:solidFill>
                <a:latin typeface="Arial"/>
                <a:ea typeface="Arial"/>
                <a:cs typeface="Arial"/>
              </a:rPr>
              <a:t>PILOT AER</a:t>
            </a:r>
          </a:p>
        </p:txBody>
      </p:sp>
      <p:sp>
        <p:nvSpPr>
          <p:cNvPr id="12" name="After AER title">
            <a:extLst xmlns:a="http://schemas.openxmlformats.org/drawingml/2006/main">
              <a:ext uri="{FF2B5EF4-FFF2-40B4-BE49-F238E27FC236}">
                <a16:creationId xmlns:a16="http://schemas.microsoft.com/office/drawing/2014/main" id="{455298AE-6AC3-45E4-A602-4D979AB6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24025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AI hỗ trợ, giảng viên giữ quyền quyết định</a:t>
            </a:r>
          </a:p>
        </p:txBody>
      </p:sp>
      <p:sp>
        <p:nvSpPr>
          <p:cNvPr id="13" name="After AER detail">
            <a:extLst xmlns:a="http://schemas.openxmlformats.org/drawingml/2006/main">
              <a:ext uri="{FF2B5EF4-FFF2-40B4-BE49-F238E27FC236}">
                <a16:creationId xmlns:a16="http://schemas.microsoft.com/office/drawing/2014/main" id="{9C4AC61E-5123-4E7C-9991-D496CD1E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47875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6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AI xử lý ca đủ căn cứ. Ngoại lệ và trường hợp chưa rõ chuyển giảng viên xem xét.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0947E-4549-4192-BA1F-FE72506B2FB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362575" y="202882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7659F6"/>
            </a:solidFill>
            <a:prstDash val="solid"/>
            <a:tailEnd type="triangle" w="sm" len="sm"/>
          </a:ln>
        </p:spPr>
      </p:cxnSp>
      <p:sp>
        <p:nvSpPr>
          <p:cNvPr id="15" name="Response time panel">
            <a:extLst xmlns:a="http://schemas.openxmlformats.org/drawingml/2006/main">
              <a:ext uri="{FF2B5EF4-FFF2-40B4-BE49-F238E27FC236}">
                <a16:creationId xmlns:a16="http://schemas.microsoft.com/office/drawing/2014/main" id="{3F3D1AB6-42D0-4C77-8DD6-3906ED43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35814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0E7F2"/>
            </a:solidFill>
            <a:prstDash val="solid"/>
          </a:ln>
        </p:spPr>
      </p:sp>
      <p:sp>
        <p:nvSpPr>
          <p:cNvPr id="16" name="Response time title">
            <a:extLst xmlns:a="http://schemas.openxmlformats.org/drawingml/2006/main">
              <a:ext uri="{FF2B5EF4-FFF2-40B4-BE49-F238E27FC236}">
                <a16:creationId xmlns:a16="http://schemas.microsoft.com/office/drawing/2014/main" id="{4BD9604D-CF98-4AEF-88C4-04329E62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13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Thời gian đến phản hồi có ích</a:t>
            </a:r>
          </a:p>
        </p:txBody>
      </p:sp>
      <p:sp>
        <p:nvSpPr>
          <p:cNvPr id="17" name="Response time before tile">
            <a:extLst xmlns:a="http://schemas.openxmlformats.org/drawingml/2006/main">
              <a:ext uri="{FF2B5EF4-FFF2-40B4-BE49-F238E27FC236}">
                <a16:creationId xmlns:a16="http://schemas.microsoft.com/office/drawing/2014/main" id="{5F15804A-5079-4816-B117-749BCB18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47637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1F6FD"/>
          </a:solidFill>
          <a:ln xmlns:a="http://schemas.openxmlformats.org/drawingml/2006/main" w="9525">
            <a:solidFill>
              <a:srgbClr val="DFE8F3"/>
            </a:solidFill>
            <a:prstDash val="solid"/>
          </a:ln>
        </p:spPr>
      </p:sp>
      <p:sp>
        <p:nvSpPr>
          <p:cNvPr id="18" name="Response time before label">
            <a:extLst xmlns:a="http://schemas.openxmlformats.org/drawingml/2006/main">
              <a:ext uri="{FF2B5EF4-FFF2-40B4-BE49-F238E27FC236}">
                <a16:creationId xmlns:a16="http://schemas.microsoft.com/office/drawing/2014/main" id="{E4EE80C3-8934-4A33-97D8-C1E6D903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38575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6574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38" b="1">
                <a:solidFill>
                  <a:srgbClr val="65749A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65749A"/>
                </a:solidFill>
                <a:latin typeface="Arial"/>
                <a:ea typeface="Arial"/>
                <a:cs typeface="Arial"/>
              </a:rPr>
              <a:t>TRƯỚC</a:t>
            </a:r>
          </a:p>
        </p:txBody>
      </p:sp>
      <p:sp>
        <p:nvSpPr>
          <p:cNvPr id="19" name="Response time before value">
            <a:extLst xmlns:a="http://schemas.openxmlformats.org/drawingml/2006/main">
              <a:ext uri="{FF2B5EF4-FFF2-40B4-BE49-F238E27FC236}">
                <a16:creationId xmlns:a16="http://schemas.microsoft.com/office/drawing/2014/main" id="{1BA2C4DD-1F3E-4D91-81AF-5D812173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38600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Chưa có baseline</a:t>
            </a:r>
          </a:p>
        </p:txBody>
      </p:sp>
      <p:sp>
        <p:nvSpPr>
          <p:cNvPr id="20" name="Response time comparison arrow">
            <a:extLst xmlns:a="http://schemas.openxmlformats.org/drawingml/2006/main">
              <a:ext uri="{FF2B5EF4-FFF2-40B4-BE49-F238E27FC236}">
                <a16:creationId xmlns:a16="http://schemas.microsoft.com/office/drawing/2014/main" id="{CF56416D-3130-4CAD-B692-AA0BEAD8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3382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725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Response time after tile">
            <a:extLst xmlns:a="http://schemas.openxmlformats.org/drawingml/2006/main">
              <a:ext uri="{FF2B5EF4-FFF2-40B4-BE49-F238E27FC236}">
                <a16:creationId xmlns:a16="http://schemas.microsoft.com/office/drawing/2014/main" id="{2A994A7A-6397-465B-941E-4276CDD8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771900"/>
            <a:ext cx="147637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9525">
            <a:solidFill>
              <a:srgbClr val="EFF7FF"/>
            </a:solidFill>
            <a:prstDash val="solid"/>
          </a:ln>
        </p:spPr>
      </p:sp>
      <p:sp>
        <p:nvSpPr>
          <p:cNvPr id="22" name="Response time after label">
            <a:extLst xmlns:a="http://schemas.openxmlformats.org/drawingml/2006/main">
              <a:ext uri="{FF2B5EF4-FFF2-40B4-BE49-F238E27FC236}">
                <a16:creationId xmlns:a16="http://schemas.microsoft.com/office/drawing/2014/main" id="{771C6C6F-9167-49E4-B70D-AD122F69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38575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38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SAU PILOT</a:t>
            </a:r>
          </a:p>
        </p:txBody>
      </p:sp>
      <p:sp>
        <p:nvSpPr>
          <p:cNvPr id="23" name="Response time after value">
            <a:extLst xmlns:a="http://schemas.openxmlformats.org/drawingml/2006/main">
              <a:ext uri="{FF2B5EF4-FFF2-40B4-BE49-F238E27FC236}">
                <a16:creationId xmlns:a16="http://schemas.microsoft.com/office/drawing/2014/main" id="{640A4BB2-6CFD-4961-BD96-4A118678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38600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Chưa có pilot</a:t>
            </a:r>
          </a:p>
        </p:txBody>
      </p:sp>
      <p:sp>
        <p:nvSpPr>
          <p:cNvPr id="24" name="Response time method">
            <a:extLst xmlns:a="http://schemas.openxmlformats.org/drawingml/2006/main">
              <a:ext uri="{FF2B5EF4-FFF2-40B4-BE49-F238E27FC236}">
                <a16:creationId xmlns:a16="http://schemas.microsoft.com/office/drawing/2014/main" id="{FA2887E9-82DA-4756-9F5E-F350121B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3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3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Từ lúc gửi yêu cầu đến phản hồi đầu tiên có ích.</a:t>
            </a:r>
          </a:p>
        </p:txBody>
      </p:sp>
      <p:sp>
        <p:nvSpPr>
          <p:cNvPr id="25" name="No lecturer escalation panel">
            <a:extLst xmlns:a="http://schemas.openxmlformats.org/drawingml/2006/main">
              <a:ext uri="{FF2B5EF4-FFF2-40B4-BE49-F238E27FC236}">
                <a16:creationId xmlns:a16="http://schemas.microsoft.com/office/drawing/2014/main" id="{499FC41E-1149-4047-840F-E884912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35814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0E7F2"/>
            </a:solidFill>
            <a:prstDash val="solid"/>
          </a:ln>
        </p:spPr>
      </p:sp>
      <p:sp>
        <p:nvSpPr>
          <p:cNvPr id="26" name="No lecturer escalation title">
            <a:extLst xmlns:a="http://schemas.openxmlformats.org/drawingml/2006/main">
              <a:ext uri="{FF2B5EF4-FFF2-40B4-BE49-F238E27FC236}">
                <a16:creationId xmlns:a16="http://schemas.microsoft.com/office/drawing/2014/main" id="{09793B66-29C7-46E4-8744-FBEEDDE3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09925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13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Yêu cầu không cần giảng viên</a:t>
            </a:r>
          </a:p>
        </p:txBody>
      </p:sp>
      <p:sp>
        <p:nvSpPr>
          <p:cNvPr id="27" name="No lecturer escalation before tile">
            <a:extLst xmlns:a="http://schemas.openxmlformats.org/drawingml/2006/main">
              <a:ext uri="{FF2B5EF4-FFF2-40B4-BE49-F238E27FC236}">
                <a16:creationId xmlns:a16="http://schemas.microsoft.com/office/drawing/2014/main" id="{B1A34AE1-5964-407A-96DA-BE853C25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71900"/>
            <a:ext cx="147637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1F6FD"/>
          </a:solidFill>
          <a:ln xmlns:a="http://schemas.openxmlformats.org/drawingml/2006/main" w="9525">
            <a:solidFill>
              <a:srgbClr val="DFE8F3"/>
            </a:solidFill>
            <a:prstDash val="solid"/>
          </a:ln>
        </p:spPr>
      </p:sp>
      <p:sp>
        <p:nvSpPr>
          <p:cNvPr id="28" name="No lecturer escalation before label">
            <a:extLst xmlns:a="http://schemas.openxmlformats.org/drawingml/2006/main">
              <a:ext uri="{FF2B5EF4-FFF2-40B4-BE49-F238E27FC236}">
                <a16:creationId xmlns:a16="http://schemas.microsoft.com/office/drawing/2014/main" id="{8E3F95BF-6E6B-4E3D-AEE2-5CD7B9B7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38575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6574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38" b="1">
                <a:solidFill>
                  <a:srgbClr val="65749A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65749A"/>
                </a:solidFill>
                <a:latin typeface="Arial"/>
                <a:ea typeface="Arial"/>
                <a:cs typeface="Arial"/>
              </a:rPr>
              <a:t>TRƯỚC</a:t>
            </a:r>
          </a:p>
        </p:txBody>
      </p:sp>
      <p:sp>
        <p:nvSpPr>
          <p:cNvPr id="29" name="No lecturer escalation before value">
            <a:extLst xmlns:a="http://schemas.openxmlformats.org/drawingml/2006/main">
              <a:ext uri="{FF2B5EF4-FFF2-40B4-BE49-F238E27FC236}">
                <a16:creationId xmlns:a16="http://schemas.microsoft.com/office/drawing/2014/main" id="{242E124D-EBD7-437E-8909-8B0C0BCA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38600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Chưa có baseline</a:t>
            </a:r>
          </a:p>
        </p:txBody>
      </p:sp>
      <p:sp>
        <p:nvSpPr>
          <p:cNvPr id="30" name="No lecturer escalation comparison arrow">
            <a:extLst xmlns:a="http://schemas.openxmlformats.org/drawingml/2006/main">
              <a:ext uri="{FF2B5EF4-FFF2-40B4-BE49-F238E27FC236}">
                <a16:creationId xmlns:a16="http://schemas.microsoft.com/office/drawing/2014/main" id="{0175FDAB-EC06-4ECD-8AF9-06DC8880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3382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725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9C7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No lecturer escalation after tile">
            <a:extLst xmlns:a="http://schemas.openxmlformats.org/drawingml/2006/main">
              <a:ext uri="{FF2B5EF4-FFF2-40B4-BE49-F238E27FC236}">
                <a16:creationId xmlns:a16="http://schemas.microsoft.com/office/drawing/2014/main" id="{7E7FD09F-F06D-4627-844F-A80836AA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71900"/>
            <a:ext cx="147637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CFAF5"/>
          </a:solidFill>
          <a:ln xmlns:a="http://schemas.openxmlformats.org/drawingml/2006/main" w="9525">
            <a:solidFill>
              <a:srgbClr val="ECFAF5"/>
            </a:solidFill>
            <a:prstDash val="solid"/>
          </a:ln>
        </p:spPr>
      </p:sp>
      <p:sp>
        <p:nvSpPr>
          <p:cNvPr id="32" name="No lecturer escalation after label">
            <a:extLst xmlns:a="http://schemas.openxmlformats.org/drawingml/2006/main">
              <a:ext uri="{FF2B5EF4-FFF2-40B4-BE49-F238E27FC236}">
                <a16:creationId xmlns:a16="http://schemas.microsoft.com/office/drawing/2014/main" id="{1E7CBAD3-7967-4D02-B4B0-24F228F8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38575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38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69C78"/>
                </a:solidFill>
                <a:latin typeface="Arial"/>
                <a:ea typeface="Arial"/>
                <a:cs typeface="Arial"/>
              </a:rPr>
              <a:t>SAU PILOT</a:t>
            </a:r>
          </a:p>
        </p:txBody>
      </p:sp>
      <p:sp>
        <p:nvSpPr>
          <p:cNvPr id="33" name="No lecturer escalation after value">
            <a:extLst xmlns:a="http://schemas.openxmlformats.org/drawingml/2006/main">
              <a:ext uri="{FF2B5EF4-FFF2-40B4-BE49-F238E27FC236}">
                <a16:creationId xmlns:a16="http://schemas.microsoft.com/office/drawing/2014/main" id="{E95B50E7-D119-4F5B-950D-DC5F9317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38600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169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9C78"/>
                </a:solidFill>
                <a:latin typeface="Arial"/>
                <a:ea typeface="Arial"/>
                <a:cs typeface="Arial"/>
              </a:rPr>
              <a:t>Chưa có pilot</a:t>
            </a:r>
          </a:p>
        </p:txBody>
      </p:sp>
      <p:sp>
        <p:nvSpPr>
          <p:cNvPr id="34" name="No lecturer escalation method">
            <a:extLst xmlns:a="http://schemas.openxmlformats.org/drawingml/2006/main">
              <a:ext uri="{FF2B5EF4-FFF2-40B4-BE49-F238E27FC236}">
                <a16:creationId xmlns:a16="http://schemas.microsoft.com/office/drawing/2014/main" id="{35C78CDF-78CC-4E01-930A-A692D0F0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43425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3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3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Số yêu cầu không chuyển giảng viên trên tổng yêu cầu đủ điều kiện.</a:t>
            </a:r>
          </a:p>
        </p:txBody>
      </p:sp>
      <p:sp>
        <p:nvSpPr>
          <p:cNvPr id="35" name="Route and evidence accuracy panel">
            <a:extLst xmlns:a="http://schemas.openxmlformats.org/drawingml/2006/main">
              <a:ext uri="{FF2B5EF4-FFF2-40B4-BE49-F238E27FC236}">
                <a16:creationId xmlns:a16="http://schemas.microsoft.com/office/drawing/2014/main" id="{6AFF1B65-F2B9-4EFE-8E44-7C3EF0D1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48000"/>
            <a:ext cx="35814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0E7F2"/>
            </a:solidFill>
            <a:prstDash val="solid"/>
          </a:ln>
        </p:spPr>
      </p:sp>
      <p:sp>
        <p:nvSpPr>
          <p:cNvPr id="36" name="Route and evidence accuracy title">
            <a:extLst xmlns:a="http://schemas.openxmlformats.org/drawingml/2006/main">
              <a:ext uri="{FF2B5EF4-FFF2-40B4-BE49-F238E27FC236}">
                <a16:creationId xmlns:a16="http://schemas.microsoft.com/office/drawing/2014/main" id="{D8EB9ACF-2D7A-4817-8FEA-2C765333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9925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13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Độ chính xác hướng xử lý</a:t>
            </a:r>
          </a:p>
        </p:txBody>
      </p:sp>
      <p:sp>
        <p:nvSpPr>
          <p:cNvPr id="37" name="Route and evidence accuracy before tile">
            <a:extLst xmlns:a="http://schemas.openxmlformats.org/drawingml/2006/main">
              <a:ext uri="{FF2B5EF4-FFF2-40B4-BE49-F238E27FC236}">
                <a16:creationId xmlns:a16="http://schemas.microsoft.com/office/drawing/2014/main" id="{23559875-835B-4811-9178-A1176485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147637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1F6FD"/>
          </a:solidFill>
          <a:ln xmlns:a="http://schemas.openxmlformats.org/drawingml/2006/main" w="9525">
            <a:solidFill>
              <a:srgbClr val="DFE8F3"/>
            </a:solidFill>
            <a:prstDash val="solid"/>
          </a:ln>
        </p:spPr>
      </p:sp>
      <p:sp>
        <p:nvSpPr>
          <p:cNvPr id="38" name="Route and evidence accuracy before label">
            <a:extLst xmlns:a="http://schemas.openxmlformats.org/drawingml/2006/main">
              <a:ext uri="{FF2B5EF4-FFF2-40B4-BE49-F238E27FC236}">
                <a16:creationId xmlns:a16="http://schemas.microsoft.com/office/drawing/2014/main" id="{2162336E-8AE7-4639-8364-60301727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38575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6574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38" b="1">
                <a:solidFill>
                  <a:srgbClr val="65749A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65749A"/>
                </a:solidFill>
                <a:latin typeface="Arial"/>
                <a:ea typeface="Arial"/>
                <a:cs typeface="Arial"/>
              </a:rPr>
              <a:t>TRƯỚC</a:t>
            </a:r>
          </a:p>
        </p:txBody>
      </p:sp>
      <p:sp>
        <p:nvSpPr>
          <p:cNvPr id="39" name="Route and evidence accuracy before value">
            <a:extLst xmlns:a="http://schemas.openxmlformats.org/drawingml/2006/main">
              <a:ext uri="{FF2B5EF4-FFF2-40B4-BE49-F238E27FC236}">
                <a16:creationId xmlns:a16="http://schemas.microsoft.com/office/drawing/2014/main" id="{DA9CC872-4B39-4A02-A855-41EE8804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038600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Chưa có baseline</a:t>
            </a:r>
          </a:p>
        </p:txBody>
      </p:sp>
      <p:sp>
        <p:nvSpPr>
          <p:cNvPr id="40" name="Route and evidence accuracy comparison arrow">
            <a:extLst xmlns:a="http://schemas.openxmlformats.org/drawingml/2006/main">
              <a:ext uri="{FF2B5EF4-FFF2-40B4-BE49-F238E27FC236}">
                <a16:creationId xmlns:a16="http://schemas.microsoft.com/office/drawing/2014/main" id="{A0C45630-BD80-46ED-A8B9-CE19E107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3382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725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659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1" name="Route and evidence accuracy after tile">
            <a:extLst xmlns:a="http://schemas.openxmlformats.org/drawingml/2006/main">
              <a:ext uri="{FF2B5EF4-FFF2-40B4-BE49-F238E27FC236}">
                <a16:creationId xmlns:a16="http://schemas.microsoft.com/office/drawing/2014/main" id="{E83D4598-1C5A-452C-8303-E139A89B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771900"/>
            <a:ext cx="147637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3F1FF"/>
          </a:solidFill>
          <a:ln xmlns:a="http://schemas.openxmlformats.org/drawingml/2006/main" w="9525">
            <a:solidFill>
              <a:srgbClr val="F3F1FF"/>
            </a:solidFill>
            <a:prstDash val="solid"/>
          </a:ln>
        </p:spPr>
      </p:sp>
      <p:sp>
        <p:nvSpPr>
          <p:cNvPr id="42" name="Route and evidence accuracy after label">
            <a:extLst xmlns:a="http://schemas.openxmlformats.org/drawingml/2006/main">
              <a:ext uri="{FF2B5EF4-FFF2-40B4-BE49-F238E27FC236}">
                <a16:creationId xmlns:a16="http://schemas.microsoft.com/office/drawing/2014/main" id="{1CB564D1-0256-448A-81C2-17ECC282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838575"/>
            <a:ext cx="1295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38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7659F6"/>
                </a:solidFill>
                <a:latin typeface="Arial"/>
                <a:ea typeface="Arial"/>
                <a:cs typeface="Arial"/>
              </a:rPr>
              <a:t>SAU PILOT</a:t>
            </a:r>
          </a:p>
        </p:txBody>
      </p:sp>
      <p:sp>
        <p:nvSpPr>
          <p:cNvPr id="43" name="Route and evidence accuracy after value">
            <a:extLst xmlns:a="http://schemas.openxmlformats.org/drawingml/2006/main">
              <a:ext uri="{FF2B5EF4-FFF2-40B4-BE49-F238E27FC236}">
                <a16:creationId xmlns:a16="http://schemas.microsoft.com/office/drawing/2014/main" id="{AF44C358-A61B-410B-A191-1DAD6935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038600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59F6"/>
                </a:solidFill>
                <a:latin typeface="Arial"/>
                <a:ea typeface="Arial"/>
                <a:cs typeface="Arial"/>
              </a:rPr>
              <a:t>Chưa có pilot</a:t>
            </a:r>
          </a:p>
        </p:txBody>
      </p:sp>
      <p:sp>
        <p:nvSpPr>
          <p:cNvPr id="44" name="Route and evidence accuracy method">
            <a:extLst xmlns:a="http://schemas.openxmlformats.org/drawingml/2006/main">
              <a:ext uri="{FF2B5EF4-FFF2-40B4-BE49-F238E27FC236}">
                <a16:creationId xmlns:a16="http://schemas.microsoft.com/office/drawing/2014/main" id="{CACF4906-DF87-4A54-AD5D-51F6B6EB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43425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3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3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Chấm cùng bộ kiểm thử 20 ca bằng một rubric; đây là test nội bộ, không phải pilot.</a:t>
            </a:r>
          </a:p>
        </p:txBody>
      </p:sp>
      <p:sp>
        <p:nvSpPr>
          <p:cNvPr id="45" name="Measurement note panel">
            <a:extLst xmlns:a="http://schemas.openxmlformats.org/drawingml/2006/main">
              <a:ext uri="{FF2B5EF4-FFF2-40B4-BE49-F238E27FC236}">
                <a16:creationId xmlns:a16="http://schemas.microsoft.com/office/drawing/2014/main" id="{39FBCFF1-D3ED-4CDD-B80D-D6EF920B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1087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1FF"/>
          </a:solidFill>
          <a:ln xmlns:a="http://schemas.openxmlformats.org/drawingml/2006/main" w="10478">
            <a:solidFill>
              <a:srgbClr val="D7D0FF"/>
            </a:solidFill>
            <a:prstDash val="solid"/>
          </a:ln>
        </p:spPr>
      </p:sp>
      <p:sp>
        <p:nvSpPr>
          <p:cNvPr id="46" name="Measurement note badge">
            <a:extLst xmlns:a="http://schemas.openxmlformats.org/drawingml/2006/main">
              <a:ext uri="{FF2B5EF4-FFF2-40B4-BE49-F238E27FC236}">
                <a16:creationId xmlns:a16="http://schemas.microsoft.com/office/drawing/2014/main" id="{88145850-D95F-4968-BAF4-54A662C7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9F6"/>
          </a:solidFill>
          <a:ln xmlns:a="http://schemas.openxmlformats.org/drawingml/2006/main" w="0">
            <a:solidFill>
              <a:srgbClr val="7659F6"/>
            </a:solidFill>
            <a:prstDash val="solid"/>
          </a:ln>
        </p:spPr>
      </p:sp>
      <p:sp>
        <p:nvSpPr>
          <p:cNvPr id="47" name="Measurement note symbol">
            <a:extLst xmlns:a="http://schemas.openxmlformats.org/drawingml/2006/main">
              <a:ext uri="{FF2B5EF4-FFF2-40B4-BE49-F238E27FC236}">
                <a16:creationId xmlns:a16="http://schemas.microsoft.com/office/drawing/2014/main" id="{0AAF3460-CDB4-452F-A138-E7C0768C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8" name="Measurement note heading">
            <a:extLst xmlns:a="http://schemas.openxmlformats.org/drawingml/2006/main">
              <a:ext uri="{FF2B5EF4-FFF2-40B4-BE49-F238E27FC236}">
                <a16:creationId xmlns:a16="http://schemas.microsoft.com/office/drawing/2014/main" id="{C16497E6-86C9-48BE-943D-48D9F3CF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629275"/>
            <a:ext cx="977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Đo cùng điều kiện</a:t>
            </a:r>
          </a:p>
        </p:txBody>
      </p:sp>
      <p:sp>
        <p:nvSpPr>
          <p:cNvPr id="49" name="Measurement note detail">
            <a:extLst xmlns:a="http://schemas.openxmlformats.org/drawingml/2006/main">
              <a:ext uri="{FF2B5EF4-FFF2-40B4-BE49-F238E27FC236}">
                <a16:creationId xmlns:a16="http://schemas.microsoft.com/office/drawing/2014/main" id="{389A736F-1CB1-4EC6-B12A-4E1CFAF5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905500"/>
            <a:ext cx="985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88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Các ô chưa có dữ liệu baseline/pilot. 20 ca là bộ kiểm thử nội bộ, không phải kết quả thực tế. Đo hai giai đoạn trên cùng nhóm yêu cầu, kỳ quan sát và rubric.</a:t>
            </a:r>
          </a:p>
        </p:txBody>
      </p:sp>
    </p:spTree>
    <p:extLst>
      <p:ext uri="{BB962C8B-B14F-4D97-AF65-F5344CB8AC3E}">
        <p14:creationId xmlns:p14="http://schemas.microsoft.com/office/powerpoint/2010/main" val="578984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2026-10-15T12:00:58.8230000Z</dcterms:created>
  <dcterms:modified xsi:type="dcterms:W3CDTF">2026-10-15T12:00:58.8230000Z</dcterms:modified>
</coreProperties>
</file>