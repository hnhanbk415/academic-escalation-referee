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95505372f24277" /><Relationship Type="http://schemas.openxmlformats.org/officeDocument/2006/relationships/extended-properties" Target="/docProps/app.xml" Id="Rdfa92d6c3b6c4966" /><Relationship Type="http://schemas.openxmlformats.org/officeDocument/2006/relationships/officeDocument" Target="/ppt/presentation.xml" Id="R667481a3720a4f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3f3bdb96ad4a35"/>
  </p:sldMasterIdLst>
  <p:notesMasterIdLst>
    <p:notesMasterId xmlns:r="http://schemas.openxmlformats.org/officeDocument/2006/relationships" r:id="Rcfb6b9240f4e4275"/>
  </p:notesMasterIdLst>
  <p:sldIdLst>
    <p:sldId xmlns:r="http://schemas.openxmlformats.org/officeDocument/2006/relationships" id="256" r:id="R365b28da28934de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6cd149539e4e2c" /><Relationship Type="http://schemas.openxmlformats.org/officeDocument/2006/relationships/slideMaster" Target="/ppt/slideMasters/slideMaster1.xml" Id="R5e3f3bdb96ad4a35" /><Relationship Type="http://schemas.openxmlformats.org/officeDocument/2006/relationships/notesMaster" Target="/ppt/notesMasters/notesMaster1.xml" Id="Rcfb6b9240f4e4275" /><Relationship Type="http://schemas.openxmlformats.org/officeDocument/2006/relationships/presProps" Target="/ppt/presProps.xml" Id="R830d0d94d8fa4ebd" /><Relationship Type="http://schemas.openxmlformats.org/officeDocument/2006/relationships/tableStyles" Target="/ppt/tableStyles.xml" Id="Rfd09ae12b78840a0" /><Relationship Type="http://schemas.openxmlformats.org/officeDocument/2006/relationships/slide" Target="/ppt/slides/slide1.xml" Id="R365b28da28934d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a9583b5ca54d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e0ab943954d466d" /><Relationship Type="http://schemas.openxmlformats.org/officeDocument/2006/relationships/notesMaster" Target="/ppt/notesMasters/notesMaster1.xml" Id="R58ea25bcb2ea4e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f7f8a9f7db411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78beb89bbb4e5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8acd824daf46f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d7a45ca8b7474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435e4b8c9c43e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c7c1f2746d4ee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2544DF1-7FF3-4243-AE0C-9707A0B2D7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2C7CDBC-E8CF-4BC4-AD4F-737D2A7A814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2FFCB35-B40A-4FB8-93C9-5C19E172C9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1D9DFA2-4FEE-4638-8667-F2939EDFB7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70851D3-8A6A-4CC3-9CBB-27C5695B16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F8F135F-30DE-4DE3-86C8-9C1AF42372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DF4FA41-0DA3-413A-9E8F-5766BC6AC69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0A514AD-E601-464A-B22C-1C561C42D05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EE154C4-4566-46AD-B344-DDB1AB654C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C070677-CB41-47B2-887C-842503FAAA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f71f7a69264709" /><Relationship Type="http://schemas.openxmlformats.org/officeDocument/2006/relationships/slideLayout" Target="/ppt/slideLayouts/slideLayout1.xml" Id="R22d9244407b74d44" /><Relationship Type="http://schemas.openxmlformats.org/officeDocument/2006/relationships/slideLayout" Target="/ppt/slideLayouts/slideLayout2.xml" Id="R8dc9df17e6024400" /><Relationship Type="http://schemas.openxmlformats.org/officeDocument/2006/relationships/slideLayout" Target="/ppt/slideLayouts/slideLayout3.xml" Id="Rd4f67f5b18bb4454" /><Relationship Type="http://schemas.openxmlformats.org/officeDocument/2006/relationships/slideLayout" Target="/ppt/slideLayouts/slideLayout4.xml" Id="R3930188abb64487c" /><Relationship Type="http://schemas.openxmlformats.org/officeDocument/2006/relationships/slideLayout" Target="/ppt/slideLayouts/slideLayout5.xml" Id="R1564db42e44a49a9" /><Relationship Type="http://schemas.openxmlformats.org/officeDocument/2006/relationships/slideLayout" Target="/ppt/slideLayouts/slideLayout6.xml" Id="R61d7b09597bc46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d9244407b74d44"/>
    <p:sldLayoutId xmlns:r="http://schemas.openxmlformats.org/officeDocument/2006/relationships" id="2147483650" r:id="R8dc9df17e6024400"/>
    <p:sldLayoutId xmlns:r="http://schemas.openxmlformats.org/officeDocument/2006/relationships" id="2147483651" r:id="Rd4f67f5b18bb4454"/>
    <p:sldLayoutId xmlns:r="http://schemas.openxmlformats.org/officeDocument/2006/relationships" id="2147483652" r:id="R3930188abb64487c"/>
    <p:sldLayoutId xmlns:r="http://schemas.openxmlformats.org/officeDocument/2006/relationships" id="2147483653" r:id="R1564db42e44a49a9"/>
    <p:sldLayoutId xmlns:r="http://schemas.openxmlformats.org/officeDocument/2006/relationships" id="2147483654" r:id="R61d7b09597bc46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17609553784925" /><Relationship Type="http://schemas.openxmlformats.org/officeDocument/2006/relationships/notesSlide" Target="/ppt/notesSlides/notesSlide1.xml" Id="Re91ebe8eb87545a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3CCDA7-20C1-4060-A859-08C66E65DB83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7667625" y="3028950"/>
            <a:ext cx="952500" cy="22479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B737B"/>
            </a:solidFill>
            <a:prstDash val="solid"/>
            <a:tailEnd type="triangle" w="sm" len="sm"/>
          </a:ln>
        </p:spPr>
      </p:cxnSp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D2D770B-3AB0-4237-A216-70002C33787F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667625" y="3028950"/>
            <a:ext cx="952500" cy="11144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6670">
            <a:solidFill>
              <a:srgbClr val="BE123C"/>
            </a:solidFill>
            <a:prstDash val="solid"/>
            <a:tailEnd type="triangle" w="sm" len="sm"/>
          </a:ln>
        </p:spPr>
      </p:cxn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07FC12-80AC-4767-B56E-CE9DC0E4E332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flipV="1">
            <a:off x="7667625" y="3009900"/>
            <a:ext cx="952500" cy="190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B45309"/>
            </a:solidFill>
            <a:prstDash val="solid"/>
            <a:tailEnd type="triangle" w="sm" len="sm"/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FAD328-2E6A-4BFD-83E6-58C295FA317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7667625" y="1876425"/>
            <a:ext cx="952500" cy="11525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47857"/>
            </a:solidFill>
            <a:prstDash val="solid"/>
            <a:tailEnd type="triangle" w="sm" len="sm"/>
          </a:ln>
        </p:spPr>
      </p:cxn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106DD7-22B9-4498-8293-8D71717B173E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5143500" y="3028950"/>
            <a:ext cx="571500" cy="95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C9AEB6"/>
            </a:solidFill>
            <a:prstDash val="solid"/>
            <a:tailEnd type="triangle" w="sm" len="sm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3FF37A-4D2C-4DE0-9B46-9D6F68A6CAD9}"/>
              </a:ext>
            </a:extLst>
          </p:cNvPr>
          <p:cNvCxnSpPr>
            <a:stCxn xmlns:a="http://schemas.openxmlformats.org/drawingml/2006/main" id="3" idx="6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343150" y="3038475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C9AEB6"/>
            </a:solidFill>
            <a:prstDash val="solid"/>
            <a:tailEnd type="triangle" w="sm" len="sm"/>
          </a:ln>
        </p:spPr>
      </p:cxnSp>
      <p:sp>
        <p:nvSpPr>
          <p:cNvPr id="4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66334CD3-280F-4FE6-86E5-6BF4546B9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BE12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BE123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BE123C"/>
                </a:solidFill>
                <a:latin typeface="Arial"/>
                <a:ea typeface="Arial"/>
                <a:cs typeface="Arial"/>
              </a:rPr>
              <a:t>Workflow xử lý câu hỏi học thuật</a:t>
            </a:r>
          </a:p>
        </p:txBody>
      </p:sp>
      <p:sp>
        <p:nvSpPr>
          <p:cNvPr id="2" name="Slide subtitle">
            <a:extLst xmlns:a="http://schemas.openxmlformats.org/drawingml/2006/main">
              <a:ext uri="{FF2B5EF4-FFF2-40B4-BE49-F238E27FC236}">
                <a16:creationId xmlns:a16="http://schemas.microsoft.com/office/drawing/2014/main" id="{3C1E3759-41EC-4F93-9DB7-55E6DBBE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620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4C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4C5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4C52"/>
                </a:solidFill>
                <a:latin typeface="Arial"/>
                <a:ea typeface="Arial"/>
                <a:cs typeface="Arial"/>
              </a:rPr>
              <a:t>AI phân tích và phân luồng; giảng viên đưa ra quyết định khi có ngoại lệ.</a:t>
            </a:r>
          </a:p>
        </p:txBody>
      </p:sp>
      <p:sp>
        <p:nvSpPr>
          <p:cNvPr id="3" name="Sinh viên gửi câu hỏi">
            <a:extLst xmlns:a="http://schemas.openxmlformats.org/drawingml/2006/main">
              <a:ext uri="{FF2B5EF4-FFF2-40B4-BE49-F238E27FC236}">
                <a16:creationId xmlns:a16="http://schemas.microsoft.com/office/drawing/2014/main" id="{6A441BC6-AFF1-41F9-99E4-64717B03A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0"/>
            <a:ext cx="182880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43F5E"/>
            </a:solidFill>
            <a:prstDash val="solid"/>
          </a:ln>
        </p:spPr>
      </p:sp>
      <p:sp>
        <p:nvSpPr>
          <p:cNvPr id="4" name="AI and RAG review">
            <a:extLst xmlns:a="http://schemas.openxmlformats.org/drawingml/2006/main">
              <a:ext uri="{FF2B5EF4-FFF2-40B4-BE49-F238E27FC236}">
                <a16:creationId xmlns:a16="http://schemas.microsoft.com/office/drawing/2014/main" id="{E6B8A57B-159A-4325-8A81-209FFF3A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362200"/>
            <a:ext cx="22669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2DDE2"/>
            </a:solidFill>
            <a:prstDash val="solid"/>
          </a:ln>
        </p:spPr>
      </p:sp>
      <p:sp>
        <p:nvSpPr>
          <p:cNvPr id="5" name="AI routing decision">
            <a:extLst xmlns:a="http://schemas.openxmlformats.org/drawingml/2006/main">
              <a:ext uri="{FF2B5EF4-FFF2-40B4-BE49-F238E27FC236}">
                <a16:creationId xmlns:a16="http://schemas.microsoft.com/office/drawing/2014/main" id="{A8D4EAB2-FCAE-456B-82FA-930E41C2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38375"/>
            <a:ext cx="1952625" cy="15811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0F2"/>
          </a:solidFill>
          <a:ln xmlns:a="http://schemas.openxmlformats.org/drawingml/2006/main" w="20955">
            <a:solidFill>
              <a:srgbClr val="BE123C"/>
            </a:solidFill>
            <a:prstDash val="solid"/>
          </a:ln>
        </p:spPr>
      </p:sp>
      <p:sp>
        <p:nvSpPr>
          <p:cNvPr id="6" name="Input title">
            <a:extLst xmlns:a="http://schemas.openxmlformats.org/drawingml/2006/main">
              <a:ext uri="{FF2B5EF4-FFF2-40B4-BE49-F238E27FC236}">
                <a16:creationId xmlns:a16="http://schemas.microsoft.com/office/drawing/2014/main" id="{07E8C44A-3992-464E-A648-1B3FAF623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57475"/>
            <a:ext cx="144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BE12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BE123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E123C"/>
                </a:solidFill>
                <a:latin typeface="Arial"/>
                <a:ea typeface="Arial"/>
                <a:cs typeface="Arial"/>
              </a:rPr>
              <a:t>SINH VIÊN</a:t>
            </a:r>
          </a:p>
        </p:txBody>
      </p:sp>
      <p:sp>
        <p:nvSpPr>
          <p:cNvPr id="7" name="Input detail">
            <a:extLst xmlns:a="http://schemas.openxmlformats.org/drawingml/2006/main">
              <a:ext uri="{FF2B5EF4-FFF2-40B4-BE49-F238E27FC236}">
                <a16:creationId xmlns:a16="http://schemas.microsoft.com/office/drawing/2014/main" id="{4C6CD042-EE59-4631-A1E4-D9C019504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5275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303"/>
          </a:bodyPr>
          <a:lstStyle xmlns:a="http://schemas.openxmlformats.org/drawingml/2006/main">
            <a:defPPr algn="ctr">
              <a:defRPr sz="1200" b="0">
                <a:solidFill>
                  <a:srgbClr val="5D4C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200" b="0">
                <a:solidFill>
                  <a:srgbClr val="5D4C5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4C52"/>
                </a:solidFill>
                <a:latin typeface="Arial"/>
                <a:ea typeface="Arial"/>
                <a:cs typeface="Arial"/>
              </a:rPr>
              <a:t>Gửi câu hỏi</a:t>
            </a:r>
          </a:p>
          <a:p xmlns:a="http://schemas.openxmlformats.org/drawingml/2006/main">
            <a:pPr algn="ctr">
              <a:lnSpc>
                <a:spcPct val="103000"/>
              </a:lnSpc>
              <a:buNone/>
              <a:defRPr sz="1200" b="0">
                <a:solidFill>
                  <a:srgbClr val="5D4C5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4C52"/>
                </a:solidFill>
                <a:latin typeface="Arial"/>
                <a:ea typeface="Arial"/>
                <a:cs typeface="Arial"/>
              </a:rPr>
              <a:t>và thông tin học phần</a:t>
            </a:r>
          </a:p>
        </p:txBody>
      </p:sp>
      <p:sp>
        <p:nvSpPr>
          <p:cNvPr id="8" name="Review title">
            <a:extLst xmlns:a="http://schemas.openxmlformats.org/drawingml/2006/main">
              <a:ext uri="{FF2B5EF4-FFF2-40B4-BE49-F238E27FC236}">
                <a16:creationId xmlns:a16="http://schemas.microsoft.com/office/drawing/2014/main" id="{E2699DF2-4C9C-4DF1-9A6E-1BAD67FD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5336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2415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24151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4151A"/>
                </a:solidFill>
                <a:latin typeface="Arial"/>
                <a:ea typeface="Arial"/>
                <a:cs typeface="Arial"/>
              </a:rPr>
              <a:t>AI + RAG THẨM ĐỊNH</a:t>
            </a:r>
          </a:p>
        </p:txBody>
      </p:sp>
      <p:sp>
        <p:nvSpPr>
          <p:cNvPr id="9" name="Review detail">
            <a:extLst xmlns:a="http://schemas.openxmlformats.org/drawingml/2006/main">
              <a:ext uri="{FF2B5EF4-FFF2-40B4-BE49-F238E27FC236}">
                <a16:creationId xmlns:a16="http://schemas.microsoft.com/office/drawing/2014/main" id="{15917E36-F2CE-4613-B9F7-8ABD0149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876550"/>
            <a:ext cx="1828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D4C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200" b="0">
                <a:solidFill>
                  <a:srgbClr val="5D4C5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4C52"/>
                </a:solidFill>
                <a:latin typeface="Arial"/>
                <a:ea typeface="Arial"/>
                <a:cs typeface="Arial"/>
              </a:rPr>
              <a:t>Trích xuất mã môn học</a:t>
            </a:r>
          </a:p>
          <a:p xmlns:a="http://schemas.openxmlformats.org/drawingml/2006/main">
            <a:pPr algn="ctr">
              <a:lnSpc>
                <a:spcPct val="103000"/>
              </a:lnSpc>
              <a:buNone/>
              <a:defRPr sz="1200" b="0">
                <a:solidFill>
                  <a:srgbClr val="5D4C5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4C52"/>
                </a:solidFill>
                <a:latin typeface="Arial"/>
                <a:ea typeface="Arial"/>
                <a:cs typeface="Arial"/>
              </a:rPr>
              <a:t>Đối chiếu quy chế và</a:t>
            </a:r>
          </a:p>
          <a:p xmlns:a="http://schemas.openxmlformats.org/drawingml/2006/main">
            <a:pPr algn="ctr">
              <a:lnSpc>
                <a:spcPct val="103000"/>
              </a:lnSpc>
              <a:buNone/>
              <a:defRPr sz="1200" b="0">
                <a:solidFill>
                  <a:srgbClr val="5D4C5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4C52"/>
                </a:solidFill>
                <a:latin typeface="Arial"/>
                <a:ea typeface="Arial"/>
                <a:cs typeface="Arial"/>
              </a:rPr>
              <a:t>ngoại lệ đã được duyệt</a:t>
            </a:r>
          </a:p>
        </p:txBody>
      </p:sp>
      <p:sp>
        <p:nvSpPr>
          <p:cNvPr id="10" name="Routing text">
            <a:extLst xmlns:a="http://schemas.openxmlformats.org/drawingml/2006/main">
              <a:ext uri="{FF2B5EF4-FFF2-40B4-BE49-F238E27FC236}">
                <a16:creationId xmlns:a16="http://schemas.microsoft.com/office/drawing/2014/main" id="{4ED9B284-DB5C-48F8-BC52-E38FD133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47950"/>
            <a:ext cx="1381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BE12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98000"/>
              </a:lnSpc>
              <a:buNone/>
              <a:defRPr sz="1575" b="1">
                <a:solidFill>
                  <a:srgbClr val="BE123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E123C"/>
                </a:solidFill>
                <a:latin typeface="Arial"/>
                <a:ea typeface="Arial"/>
                <a:cs typeface="Arial"/>
              </a:rPr>
              <a:t>AI</a:t>
            </a:r>
          </a:p>
          <a:p xmlns:a="http://schemas.openxmlformats.org/drawingml/2006/main">
            <a:pPr algn="ctr">
              <a:lnSpc>
                <a:spcPct val="98000"/>
              </a:lnSpc>
              <a:buNone/>
              <a:defRPr sz="1575" b="1">
                <a:solidFill>
                  <a:srgbClr val="BE123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E123C"/>
                </a:solidFill>
                <a:latin typeface="Arial"/>
                <a:ea typeface="Arial"/>
                <a:cs typeface="Arial"/>
              </a:rPr>
              <a:t>PHÂN LUỒNG</a:t>
            </a:r>
          </a:p>
        </p:txBody>
      </p:sp>
      <p:sp>
        <p:nvSpPr>
          <p:cNvPr id="11" name="Policy answer">
            <a:extLst xmlns:a="http://schemas.openxmlformats.org/drawingml/2006/main">
              <a:ext uri="{FF2B5EF4-FFF2-40B4-BE49-F238E27FC236}">
                <a16:creationId xmlns:a16="http://schemas.microsoft.com/office/drawing/2014/main" id="{0AFBCF57-08D8-4652-83B2-79161B88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381125"/>
            <a:ext cx="30099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F2DDE2"/>
            </a:solidFill>
            <a:prstDash val="solid"/>
          </a:ln>
        </p:spPr>
      </p:sp>
      <p:sp>
        <p:nvSpPr>
          <p:cNvPr id="12" name="Policy answer accent">
            <a:extLst xmlns:a="http://schemas.openxmlformats.org/drawingml/2006/main">
              <a:ext uri="{FF2B5EF4-FFF2-40B4-BE49-F238E27FC236}">
                <a16:creationId xmlns:a16="http://schemas.microsoft.com/office/drawing/2014/main" id="{18436704-EBB5-4229-86D9-49136791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504950"/>
            <a:ext cx="5715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47857"/>
            </a:solidFill>
            <a:prstDash val="solid"/>
          </a:ln>
        </p:spPr>
      </p:sp>
      <p:sp>
        <p:nvSpPr>
          <p:cNvPr id="13" name="Policy answer tint">
            <a:extLst xmlns:a="http://schemas.openxmlformats.org/drawingml/2006/main">
              <a:ext uri="{FF2B5EF4-FFF2-40B4-BE49-F238E27FC236}">
                <a16:creationId xmlns:a16="http://schemas.microsoft.com/office/drawing/2014/main" id="{B1E21C31-7D63-4F60-9AC7-36C68B724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514475"/>
            <a:ext cx="26289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0">
            <a:solidFill>
              <a:srgbClr val="ECFDF5"/>
            </a:solidFill>
            <a:prstDash val="solid"/>
          </a:ln>
        </p:spPr>
      </p:sp>
      <p:sp>
        <p:nvSpPr>
          <p:cNvPr id="14" name="Policy answer label">
            <a:extLst xmlns:a="http://schemas.openxmlformats.org/drawingml/2006/main">
              <a:ext uri="{FF2B5EF4-FFF2-40B4-BE49-F238E27FC236}">
                <a16:creationId xmlns:a16="http://schemas.microsoft.com/office/drawing/2014/main" id="{06AD8E45-D7D1-4F28-BFC5-AC547377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15144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0478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04785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47857"/>
                </a:solidFill>
                <a:latin typeface="Arial"/>
                <a:ea typeface="Arial"/>
                <a:cs typeface="Arial"/>
              </a:rPr>
              <a:t>ĐỦ CĂN CỨ THEO QUY CHẾ</a:t>
            </a:r>
          </a:p>
        </p:txBody>
      </p:sp>
      <p:sp>
        <p:nvSpPr>
          <p:cNvPr id="15" name="Policy answer detail">
            <a:extLst xmlns:a="http://schemas.openxmlformats.org/drawingml/2006/main">
              <a:ext uri="{FF2B5EF4-FFF2-40B4-BE49-F238E27FC236}">
                <a16:creationId xmlns:a16="http://schemas.microsoft.com/office/drawing/2014/main" id="{7E6C4B7C-FF38-4BCC-A065-545E3F7E8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838325"/>
            <a:ext cx="2619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D4C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3000"/>
              </a:lnSpc>
              <a:buNone/>
              <a:defRPr sz="1200" b="0">
                <a:solidFill>
                  <a:srgbClr val="5D4C5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4C52"/>
                </a:solidFill>
                <a:latin typeface="Arial"/>
                <a:ea typeface="Arial"/>
                <a:cs typeface="Arial"/>
              </a:rPr>
              <a:t>AI trả lời kèm điều khoản và trích dẫn nguồn.</a:t>
            </a:r>
          </a:p>
        </p:txBody>
      </p:sp>
      <p:sp>
        <p:nvSpPr>
          <p:cNvPr id="16" name="Clarification">
            <a:extLst xmlns:a="http://schemas.openxmlformats.org/drawingml/2006/main">
              <a:ext uri="{FF2B5EF4-FFF2-40B4-BE49-F238E27FC236}">
                <a16:creationId xmlns:a16="http://schemas.microsoft.com/office/drawing/2014/main" id="{709BF1DE-AE71-4E61-9526-FD720FBDB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514600"/>
            <a:ext cx="30099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F2DDE2"/>
            </a:solidFill>
            <a:prstDash val="solid"/>
          </a:ln>
        </p:spPr>
      </p:sp>
      <p:sp>
        <p:nvSpPr>
          <p:cNvPr id="17" name="Clarification accent">
            <a:extLst xmlns:a="http://schemas.openxmlformats.org/drawingml/2006/main">
              <a:ext uri="{FF2B5EF4-FFF2-40B4-BE49-F238E27FC236}">
                <a16:creationId xmlns:a16="http://schemas.microsoft.com/office/drawing/2014/main" id="{78FA7C1F-5EA9-42D0-B3B0-23C2F537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638425"/>
            <a:ext cx="5715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18" name="Clarification tint">
            <a:extLst xmlns:a="http://schemas.openxmlformats.org/drawingml/2006/main">
              <a:ext uri="{FF2B5EF4-FFF2-40B4-BE49-F238E27FC236}">
                <a16:creationId xmlns:a16="http://schemas.microsoft.com/office/drawing/2014/main" id="{3C4D343E-2B44-4CF3-9721-F531F0B59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647950"/>
            <a:ext cx="26289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0">
            <a:solidFill>
              <a:srgbClr val="FFFBEB"/>
            </a:solidFill>
            <a:prstDash val="solid"/>
          </a:ln>
        </p:spPr>
      </p:sp>
      <p:sp>
        <p:nvSpPr>
          <p:cNvPr id="19" name="Clarification label">
            <a:extLst xmlns:a="http://schemas.openxmlformats.org/drawingml/2006/main">
              <a:ext uri="{FF2B5EF4-FFF2-40B4-BE49-F238E27FC236}">
                <a16:creationId xmlns:a16="http://schemas.microsoft.com/office/drawing/2014/main" id="{7FB35653-A5F7-4A4C-A7E4-62C40842C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6479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B4530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45309"/>
                </a:solidFill>
                <a:latin typeface="Arial"/>
                <a:ea typeface="Arial"/>
                <a:cs typeface="Arial"/>
              </a:rPr>
              <a:t>THIẾU THÔNG TIN</a:t>
            </a:r>
          </a:p>
        </p:txBody>
      </p:sp>
      <p:sp>
        <p:nvSpPr>
          <p:cNvPr id="20" name="Clarification detail">
            <a:extLst xmlns:a="http://schemas.openxmlformats.org/drawingml/2006/main">
              <a:ext uri="{FF2B5EF4-FFF2-40B4-BE49-F238E27FC236}">
                <a16:creationId xmlns:a16="http://schemas.microsoft.com/office/drawing/2014/main" id="{F4215CB2-10E3-4FB4-AE47-4695A6CB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71800"/>
            <a:ext cx="2619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D4C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3000"/>
              </a:lnSpc>
              <a:buNone/>
              <a:defRPr sz="1200" b="0">
                <a:solidFill>
                  <a:srgbClr val="5D4C5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4C52"/>
                </a:solidFill>
                <a:latin typeface="Arial"/>
                <a:ea typeface="Arial"/>
                <a:cs typeface="Arial"/>
              </a:rPr>
              <a:t>Yêu cầu sinh viên bổ sung; thẩm định lại tối đa 2 lượt.</a:t>
            </a:r>
          </a:p>
        </p:txBody>
      </p:sp>
      <p:sp>
        <p:nvSpPr>
          <p:cNvPr id="21" name="Lecturer review">
            <a:extLst xmlns:a="http://schemas.openxmlformats.org/drawingml/2006/main">
              <a:ext uri="{FF2B5EF4-FFF2-40B4-BE49-F238E27FC236}">
                <a16:creationId xmlns:a16="http://schemas.microsoft.com/office/drawing/2014/main" id="{19D3994E-1F23-4C3E-A57D-44384F532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648075"/>
            <a:ext cx="30099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F2DDE2"/>
            </a:solidFill>
            <a:prstDash val="solid"/>
          </a:ln>
        </p:spPr>
      </p:sp>
      <p:sp>
        <p:nvSpPr>
          <p:cNvPr id="22" name="Lecturer review accent">
            <a:extLst xmlns:a="http://schemas.openxmlformats.org/drawingml/2006/main">
              <a:ext uri="{FF2B5EF4-FFF2-40B4-BE49-F238E27FC236}">
                <a16:creationId xmlns:a16="http://schemas.microsoft.com/office/drawing/2014/main" id="{77D2E116-0682-497E-9DC0-6BE09F251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771900"/>
            <a:ext cx="5715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E123C"/>
          </a:solidFill>
          <a:ln xmlns:a="http://schemas.openxmlformats.org/drawingml/2006/main" w="0">
            <a:solidFill>
              <a:srgbClr val="BE123C"/>
            </a:solidFill>
            <a:prstDash val="solid"/>
          </a:ln>
        </p:spPr>
      </p:sp>
      <p:sp>
        <p:nvSpPr>
          <p:cNvPr id="23" name="Lecturer review tint">
            <a:extLst xmlns:a="http://schemas.openxmlformats.org/drawingml/2006/main">
              <a:ext uri="{FF2B5EF4-FFF2-40B4-BE49-F238E27FC236}">
                <a16:creationId xmlns:a16="http://schemas.microsoft.com/office/drawing/2014/main" id="{A8C03BC5-75E9-4511-913C-906745BB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781425"/>
            <a:ext cx="26289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0F2"/>
          </a:solidFill>
          <a:ln xmlns:a="http://schemas.openxmlformats.org/drawingml/2006/main" w="0">
            <a:solidFill>
              <a:srgbClr val="FFF0F2"/>
            </a:solidFill>
            <a:prstDash val="solid"/>
          </a:ln>
        </p:spPr>
      </p:sp>
      <p:sp>
        <p:nvSpPr>
          <p:cNvPr id="24" name="Lecturer review label">
            <a:extLst xmlns:a="http://schemas.openxmlformats.org/drawingml/2006/main">
              <a:ext uri="{FF2B5EF4-FFF2-40B4-BE49-F238E27FC236}">
                <a16:creationId xmlns:a16="http://schemas.microsoft.com/office/drawing/2014/main" id="{2642E38F-97B4-4DEF-9344-4C1D59153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7814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BE12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BE123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E123C"/>
                </a:solidFill>
                <a:latin typeface="Arial"/>
                <a:ea typeface="Arial"/>
                <a:cs typeface="Arial"/>
              </a:rPr>
              <a:t>NGOẠI LỆ / CẦN XEM XÉT</a:t>
            </a:r>
          </a:p>
        </p:txBody>
      </p:sp>
      <p:sp>
        <p:nvSpPr>
          <p:cNvPr id="25" name="Lecturer review detail">
            <a:extLst xmlns:a="http://schemas.openxmlformats.org/drawingml/2006/main">
              <a:ext uri="{FF2B5EF4-FFF2-40B4-BE49-F238E27FC236}">
                <a16:creationId xmlns:a16="http://schemas.microsoft.com/office/drawing/2014/main" id="{CAA8470B-E465-4E3B-B390-07379AB2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105275"/>
            <a:ext cx="2619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4247"/>
          </a:bodyPr>
          <a:lstStyle xmlns:a="http://schemas.openxmlformats.org/drawingml/2006/main">
            <a:defPPr algn="l">
              <a:defRPr sz="1200" b="0">
                <a:solidFill>
                  <a:srgbClr val="5D4C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3000"/>
              </a:lnSpc>
              <a:buNone/>
              <a:defRPr sz="1200" b="0">
                <a:solidFill>
                  <a:srgbClr val="5D4C5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4C52"/>
                </a:solidFill>
                <a:latin typeface="Arial"/>
                <a:ea typeface="Arial"/>
                <a:cs typeface="Arial"/>
              </a:rPr>
              <a:t>Giảng viên xem hồ sơ và quyết định: duyệt, từ chối, hỏi thêm hoặc chuyển tiếp. SLA 48 giờ.</a:t>
            </a:r>
          </a:p>
        </p:txBody>
      </p:sp>
      <p:sp>
        <p:nvSpPr>
          <p:cNvPr id="26" name="Out of scope">
            <a:extLst xmlns:a="http://schemas.openxmlformats.org/drawingml/2006/main">
              <a:ext uri="{FF2B5EF4-FFF2-40B4-BE49-F238E27FC236}">
                <a16:creationId xmlns:a16="http://schemas.microsoft.com/office/drawing/2014/main" id="{A1A60A34-B6F6-4F1E-83E2-F6F77E2A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81550"/>
            <a:ext cx="30099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F2DDE2"/>
            </a:solidFill>
            <a:prstDash val="solid"/>
          </a:ln>
        </p:spPr>
      </p:sp>
      <p:sp>
        <p:nvSpPr>
          <p:cNvPr id="27" name="Out of scope accent">
            <a:extLst xmlns:a="http://schemas.openxmlformats.org/drawingml/2006/main">
              <a:ext uri="{FF2B5EF4-FFF2-40B4-BE49-F238E27FC236}">
                <a16:creationId xmlns:a16="http://schemas.microsoft.com/office/drawing/2014/main" id="{561CF31A-0921-4154-BE61-371F1E1A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905375"/>
            <a:ext cx="5715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737B"/>
          </a:solidFill>
          <a:ln xmlns:a="http://schemas.openxmlformats.org/drawingml/2006/main" w="0">
            <a:solidFill>
              <a:srgbClr val="8B737B"/>
            </a:solidFill>
            <a:prstDash val="solid"/>
          </a:ln>
        </p:spPr>
      </p:sp>
      <p:sp>
        <p:nvSpPr>
          <p:cNvPr id="28" name="Out of scope tint">
            <a:extLst xmlns:a="http://schemas.openxmlformats.org/drawingml/2006/main">
              <a:ext uri="{FF2B5EF4-FFF2-40B4-BE49-F238E27FC236}">
                <a16:creationId xmlns:a16="http://schemas.microsoft.com/office/drawing/2014/main" id="{7BC75E9F-22AC-4802-AE70-EAF4A99BC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914900"/>
            <a:ext cx="26289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7F4F5"/>
          </a:solidFill>
          <a:ln xmlns:a="http://schemas.openxmlformats.org/drawingml/2006/main" w="0">
            <a:solidFill>
              <a:srgbClr val="F7F4F5"/>
            </a:solidFill>
            <a:prstDash val="solid"/>
          </a:ln>
        </p:spPr>
      </p:sp>
      <p:sp>
        <p:nvSpPr>
          <p:cNvPr id="29" name="Out of scope label">
            <a:extLst xmlns:a="http://schemas.openxmlformats.org/drawingml/2006/main">
              <a:ext uri="{FF2B5EF4-FFF2-40B4-BE49-F238E27FC236}">
                <a16:creationId xmlns:a16="http://schemas.microsoft.com/office/drawing/2014/main" id="{89B47F1E-0B4A-4B31-BA67-D1DE9B1F7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9149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8B73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8B737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B737B"/>
                </a:solidFill>
                <a:latin typeface="Arial"/>
                <a:ea typeface="Arial"/>
                <a:cs typeface="Arial"/>
              </a:rPr>
              <a:t>NGOÀI PHẠM VI</a:t>
            </a:r>
          </a:p>
        </p:txBody>
      </p:sp>
      <p:sp>
        <p:nvSpPr>
          <p:cNvPr id="30" name="Out of scope detail">
            <a:extLst xmlns:a="http://schemas.openxmlformats.org/drawingml/2006/main">
              <a:ext uri="{FF2B5EF4-FFF2-40B4-BE49-F238E27FC236}">
                <a16:creationId xmlns:a16="http://schemas.microsoft.com/office/drawing/2014/main" id="{12A18027-88C9-4818-9EE5-0AF6022EC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238750"/>
            <a:ext cx="2619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D4C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3000"/>
              </a:lnSpc>
              <a:buNone/>
              <a:defRPr sz="1200" b="0">
                <a:solidFill>
                  <a:srgbClr val="5D4C5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4C52"/>
                </a:solidFill>
                <a:latin typeface="Arial"/>
                <a:ea typeface="Arial"/>
                <a:cs typeface="Arial"/>
              </a:rPr>
              <a:t>Lưu lý do và thông báo rõ trạng thái cho sinh viên.</a:t>
            </a:r>
          </a:p>
        </p:txBody>
      </p:sp>
      <p:sp>
        <p:nvSpPr>
          <p:cNvPr id="37" name="Answer branch">
            <a:extLst xmlns:a="http://schemas.openxmlformats.org/drawingml/2006/main">
              <a:ext uri="{FF2B5EF4-FFF2-40B4-BE49-F238E27FC236}">
                <a16:creationId xmlns:a16="http://schemas.microsoft.com/office/drawing/2014/main" id="{DAAF265A-C4DA-4CD2-BACA-316D3B1FB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16097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0478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04785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47857"/>
                </a:solidFill>
                <a:latin typeface="Arial"/>
                <a:ea typeface="Arial"/>
                <a:cs typeface="Arial"/>
              </a:rPr>
              <a:t>CÓ</a:t>
            </a:r>
          </a:p>
        </p:txBody>
      </p:sp>
      <p:sp>
        <p:nvSpPr>
          <p:cNvPr id="38" name="Clarify branch">
            <a:extLst xmlns:a="http://schemas.openxmlformats.org/drawingml/2006/main">
              <a:ext uri="{FF2B5EF4-FFF2-40B4-BE49-F238E27FC236}">
                <a16:creationId xmlns:a16="http://schemas.microsoft.com/office/drawing/2014/main" id="{4D012624-FCDA-4E0E-A7A8-F3ACEE51F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7241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B4530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45309"/>
                </a:solidFill>
                <a:latin typeface="Arial"/>
                <a:ea typeface="Arial"/>
                <a:cs typeface="Arial"/>
              </a:rPr>
              <a:t>THIẾU</a:t>
            </a:r>
          </a:p>
        </p:txBody>
      </p:sp>
      <p:sp>
        <p:nvSpPr>
          <p:cNvPr id="39" name="Human branch">
            <a:extLst xmlns:a="http://schemas.openxmlformats.org/drawingml/2006/main">
              <a:ext uri="{FF2B5EF4-FFF2-40B4-BE49-F238E27FC236}">
                <a16:creationId xmlns:a16="http://schemas.microsoft.com/office/drawing/2014/main" id="{AC8D0B47-55F0-470E-B679-6507AA022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857625"/>
            <a:ext cx="657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BE12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BE123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E123C"/>
                </a:solidFill>
                <a:latin typeface="Arial"/>
                <a:ea typeface="Arial"/>
                <a:cs typeface="Arial"/>
              </a:rPr>
              <a:t>NGOẠI LỆ</a:t>
            </a:r>
          </a:p>
        </p:txBody>
      </p:sp>
      <p:sp>
        <p:nvSpPr>
          <p:cNvPr id="40" name="Out of scope branch">
            <a:extLst xmlns:a="http://schemas.openxmlformats.org/drawingml/2006/main">
              <a:ext uri="{FF2B5EF4-FFF2-40B4-BE49-F238E27FC236}">
                <a16:creationId xmlns:a16="http://schemas.microsoft.com/office/drawing/2014/main" id="{0A4ED8F9-8401-4879-9E26-F00171F71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9911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8B73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8B737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B737B"/>
                </a:solidFill>
                <a:latin typeface="Arial"/>
                <a:ea typeface="Arial"/>
                <a:cs typeface="Arial"/>
              </a:rPr>
              <a:t>KHÔNG</a:t>
            </a:r>
          </a:p>
        </p:txBody>
      </p:sp>
      <p:sp>
        <p:nvSpPr>
          <p:cNvPr id="41" name="Decision footer panel">
            <a:extLst xmlns:a="http://schemas.openxmlformats.org/drawingml/2006/main">
              <a:ext uri="{FF2B5EF4-FFF2-40B4-BE49-F238E27FC236}">
                <a16:creationId xmlns:a16="http://schemas.microsoft.com/office/drawing/2014/main" id="{B3486F04-8873-4846-9467-64876411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048375"/>
            <a:ext cx="11125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F2DDE2"/>
            </a:solidFill>
            <a:prstDash val="solid"/>
          </a:ln>
        </p:spPr>
      </p:sp>
      <p:sp>
        <p:nvSpPr>
          <p:cNvPr id="42" name="Human decision footer">
            <a:extLst xmlns:a="http://schemas.openxmlformats.org/drawingml/2006/main">
              <a:ext uri="{FF2B5EF4-FFF2-40B4-BE49-F238E27FC236}">
                <a16:creationId xmlns:a16="http://schemas.microsoft.com/office/drawing/2014/main" id="{BAA45670-E110-4341-9998-B5024E052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34100"/>
            <a:ext cx="1072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BE12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BE123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E123C"/>
                </a:solidFill>
                <a:latin typeface="Arial"/>
                <a:ea typeface="Arial"/>
                <a:cs typeface="Arial"/>
              </a:rPr>
              <a:t>GIẢNG VIÊN QUYẾT ĐỊNH TRƯỜNG HỢP NGOẠI LỆ   •   Mọi câu trả lời, quyết định và thời hạn được lưu trong lịch sử và Audit Trail</a:t>
            </a:r>
          </a:p>
        </p:txBody>
      </p:sp>
    </p:spTree>
    <p:extLst>
      <p:ext uri="{BB962C8B-B14F-4D97-AF65-F5344CB8AC3E}">
        <p14:creationId xmlns:p14="http://schemas.microsoft.com/office/powerpoint/2010/main" val="17840086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2026-10-15T11:02:14.4380000Z</dcterms:created>
  <dcterms:modified xsi:type="dcterms:W3CDTF">2026-10-15T11:02:14.4380000Z</dcterms:modified>
</coreProperties>
</file>