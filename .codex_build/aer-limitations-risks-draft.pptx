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ee89a98cb44d24" /><Relationship Type="http://schemas.openxmlformats.org/officeDocument/2006/relationships/extended-properties" Target="/docProps/app.xml" Id="R29f8d53e69234359" /><Relationship Type="http://schemas.openxmlformats.org/officeDocument/2006/relationships/officeDocument" Target="/ppt/presentation.xml" Id="R21ba7a1ca6654e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21d383a3804219"/>
  </p:sldMasterIdLst>
  <p:notesMasterIdLst>
    <p:notesMasterId xmlns:r="http://schemas.openxmlformats.org/officeDocument/2006/relationships" r:id="R86307d2a04d6476e"/>
  </p:notesMasterIdLst>
  <p:sldIdLst>
    <p:sldId xmlns:r="http://schemas.openxmlformats.org/officeDocument/2006/relationships" id="256" r:id="R78d6c99d15a041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bb75ce38d74918" /><Relationship Type="http://schemas.openxmlformats.org/officeDocument/2006/relationships/slideMaster" Target="/ppt/slideMasters/slideMaster1.xml" Id="Rd521d383a3804219" /><Relationship Type="http://schemas.openxmlformats.org/officeDocument/2006/relationships/notesMaster" Target="/ppt/notesMasters/notesMaster1.xml" Id="R86307d2a04d6476e" /><Relationship Type="http://schemas.openxmlformats.org/officeDocument/2006/relationships/presProps" Target="/ppt/presProps.xml" Id="R5221950c58894628" /><Relationship Type="http://schemas.openxmlformats.org/officeDocument/2006/relationships/tableStyles" Target="/ppt/tableStyles.xml" Id="Rd7f4681011b34ab0" /><Relationship Type="http://schemas.openxmlformats.org/officeDocument/2006/relationships/slide" Target="/ppt/slides/slide1.xml" Id="R78d6c99d15a041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cc8ba1106a4e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e796dcf82f4d28" /><Relationship Type="http://schemas.openxmlformats.org/officeDocument/2006/relationships/notesMaster" Target="/ppt/notesMasters/notesMaster1.xml" Id="Raec30ff44bff4d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Căn cứ từ backend/app/ai/factory.py, backend/app/services/questions.py (_safe_ai_failure), backend/app/core/config.py (timeout/concurrency, local_document_storage_dir, AUTH_MODE), backend/app/ingestion/local_processing.py (confidence review), backend/app/api/routes/documents.py (_store_upload), backend/app/services/cases.py (_validate_reviewer), harness/datasets/evaluation.jsonl và docker/Render deployment config. Các hướng xử lý trên là khuyến nghị, không mô tả tính năng đã triển khai. Repo đã có fallback AI_UNAVAILABLE -&gt; ESCALATE và quy trình review OCR confidence thấp. Tài liệu demo là sample docs; không có tích hợp LMS/SIS được xác nhận. Upload/crop hiện lưu local; chưa thấy cấu hình persistent object storage hoặc backup cloud trong repo. Case reviewer hiện giới hạn lecturer-01. Harness có bộ scenario tĩnh, chưa có dữ liệu pilot thực địa.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24e9dee180420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b4451ddffd4ff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9ebd9546b84d8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a823d1164240e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196143700546a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1cbf94058245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FBA298-D9B7-4569-84DA-0C717DA0C3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9DBEAEF-EA40-4DFC-BCF2-BDB218ADCC1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63F047E-94CE-46CA-B96A-4BC296A625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304B25-EA78-46E4-A456-AEF611B30B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7695176-9E60-4EDD-950A-325C694813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BE1C62-768F-4E3A-8FFC-A067617B4A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29BDBC-5375-4556-A0D6-372E526A8B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84C472-5C37-4750-966C-A0EABC7B6C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C7B4BA-3CDC-4FAB-896E-1F638B0D5E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BEAF21-8FFE-42B0-BA77-01E898F3DE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379b749b634c57" /><Relationship Type="http://schemas.openxmlformats.org/officeDocument/2006/relationships/slideLayout" Target="/ppt/slideLayouts/slideLayout1.xml" Id="R56183bcc9e7e47f0" /><Relationship Type="http://schemas.openxmlformats.org/officeDocument/2006/relationships/slideLayout" Target="/ppt/slideLayouts/slideLayout2.xml" Id="Rc1dafc48e5d349c0" /><Relationship Type="http://schemas.openxmlformats.org/officeDocument/2006/relationships/slideLayout" Target="/ppt/slideLayouts/slideLayout3.xml" Id="R867654b12696452f" /><Relationship Type="http://schemas.openxmlformats.org/officeDocument/2006/relationships/slideLayout" Target="/ppt/slideLayouts/slideLayout4.xml" Id="R5d7a816df1ad4da3" /><Relationship Type="http://schemas.openxmlformats.org/officeDocument/2006/relationships/slideLayout" Target="/ppt/slideLayouts/slideLayout5.xml" Id="R809d7894a93f481b" /><Relationship Type="http://schemas.openxmlformats.org/officeDocument/2006/relationships/slideLayout" Target="/ppt/slideLayouts/slideLayout6.xml" Id="Rb9272095817e43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183bcc9e7e47f0"/>
    <p:sldLayoutId xmlns:r="http://schemas.openxmlformats.org/officeDocument/2006/relationships" id="2147483650" r:id="Rc1dafc48e5d349c0"/>
    <p:sldLayoutId xmlns:r="http://schemas.openxmlformats.org/officeDocument/2006/relationships" id="2147483651" r:id="R867654b12696452f"/>
    <p:sldLayoutId xmlns:r="http://schemas.openxmlformats.org/officeDocument/2006/relationships" id="2147483652" r:id="R5d7a816df1ad4da3"/>
    <p:sldLayoutId xmlns:r="http://schemas.openxmlformats.org/officeDocument/2006/relationships" id="2147483653" r:id="R809d7894a93f481b"/>
    <p:sldLayoutId xmlns:r="http://schemas.openxmlformats.org/officeDocument/2006/relationships" id="2147483654" r:id="Rb9272095817e43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3cb48eac944eed" /><Relationship Type="http://schemas.openxmlformats.org/officeDocument/2006/relationships/notesSlide" Target="/ppt/notesSlides/notesSlide1.xml" Id="R94911dd867d14a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Eyebrow">
            <a:extLst xmlns:a="http://schemas.openxmlformats.org/drawingml/2006/main">
              <a:ext uri="{FF2B5EF4-FFF2-40B4-BE49-F238E27FC236}">
                <a16:creationId xmlns:a16="http://schemas.microsoft.com/office/drawing/2014/main" id="{7F9C83D5-DA2B-4B25-B3EB-5A82A316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3196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050" b="1">
                <a:solidFill>
                  <a:srgbClr val="3196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96F4"/>
                </a:solidFill>
                <a:latin typeface="Arial"/>
                <a:ea typeface="Arial"/>
                <a:cs typeface="Arial"/>
              </a:rPr>
              <a:t>AER AI REFEREE  •  RỦI RO &amp; QUẢN TRỊ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082C645-0F4C-4B5E-9D22-73303093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35B"/>
                </a:solidFill>
                <a:latin typeface="Arial"/>
                <a:ea typeface="Arial"/>
                <a:cs typeface="Arial"/>
              </a:rPr>
              <a:t>Giới hạn, rủi ro &amp; hướng xử lý tiếp theo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991CFB6-875F-4B10-A72C-8020E960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14400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38" b="0">
                <a:solidFill>
                  <a:srgbClr val="6574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238" b="0">
                <a:solidFill>
                  <a:srgbClr val="65749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65749A"/>
                </a:solidFill>
                <a:latin typeface="Arial"/>
                <a:ea typeface="Arial"/>
                <a:cs typeface="Arial"/>
              </a:rPr>
              <a:t>Các điểm cần kiểm soát trước khi mở rộng từ bản demo sang vận hành thực tế.</a:t>
            </a:r>
          </a:p>
        </p:txBody>
      </p:sp>
      <p:sp>
        <p:nvSpPr>
          <p:cNvPr id="4" name="Table header">
            <a:extLst xmlns:a="http://schemas.openxmlformats.org/drawingml/2006/main">
              <a:ext uri="{FF2B5EF4-FFF2-40B4-BE49-F238E27FC236}">
                <a16:creationId xmlns:a16="http://schemas.microsoft.com/office/drawing/2014/main" id="{2E500E2C-6860-4F98-8A75-906B733D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43025"/>
            <a:ext cx="112776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235B"/>
          </a:solidFill>
          <a:ln xmlns:a="http://schemas.openxmlformats.org/drawingml/2006/main" w="0">
            <a:solidFill>
              <a:srgbClr val="18235B"/>
            </a:solidFill>
            <a:prstDash val="solid"/>
          </a:ln>
        </p:spPr>
      </p:sp>
      <p:sp>
        <p:nvSpPr>
          <p:cNvPr id="5" name="Header category">
            <a:extLst xmlns:a="http://schemas.openxmlformats.org/drawingml/2006/main">
              <a:ext uri="{FF2B5EF4-FFF2-40B4-BE49-F238E27FC236}">
                <a16:creationId xmlns:a16="http://schemas.microsoft.com/office/drawing/2014/main" id="{1DED2B8A-7B39-4DC2-B06E-F5E13B5D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19225"/>
            <a:ext cx="1381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KHU VỰC</a:t>
            </a:r>
          </a:p>
        </p:txBody>
      </p:sp>
      <p:sp>
        <p:nvSpPr>
          <p:cNvPr id="6" name="Header limit">
            <a:extLst xmlns:a="http://schemas.openxmlformats.org/drawingml/2006/main">
              <a:ext uri="{FF2B5EF4-FFF2-40B4-BE49-F238E27FC236}">
                <a16:creationId xmlns:a16="http://schemas.microsoft.com/office/drawing/2014/main" id="{F898B9FD-A64E-4A71-9EF6-990980C5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419225"/>
            <a:ext cx="438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GIỚI HẠN / RỦI RO HIỆN TẠI</a:t>
            </a:r>
          </a:p>
        </p:txBody>
      </p:sp>
      <p:sp>
        <p:nvSpPr>
          <p:cNvPr id="7" name="Header direction">
            <a:extLst xmlns:a="http://schemas.openxmlformats.org/drawingml/2006/main">
              <a:ext uri="{FF2B5EF4-FFF2-40B4-BE49-F238E27FC236}">
                <a16:creationId xmlns:a16="http://schemas.microsoft.com/office/drawing/2014/main" id="{5992084E-098E-4B68-803E-CA24496F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19225"/>
            <a:ext cx="428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HƯỚNG XỬ LÝ ĐỀ XUẤT</a:t>
            </a:r>
          </a:p>
        </p:txBody>
      </p:sp>
      <p:sp>
        <p:nvSpPr>
          <p:cNvPr id="8" name="Row 1 category bg">
            <a:extLst xmlns:a="http://schemas.openxmlformats.org/drawingml/2006/main">
              <a:ext uri="{FF2B5EF4-FFF2-40B4-BE49-F238E27FC236}">
                <a16:creationId xmlns:a16="http://schemas.microsoft.com/office/drawing/2014/main" id="{AFCCD507-3FC7-4219-94D4-A3ABD0C8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695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DFE7F2"/>
            </a:solidFill>
            <a:prstDash val="solid"/>
          </a:ln>
        </p:spPr>
      </p:sp>
      <p:sp>
        <p:nvSpPr>
          <p:cNvPr id="9" name="Row 1 category accent">
            <a:extLst xmlns:a="http://schemas.openxmlformats.org/drawingml/2006/main">
              <a:ext uri="{FF2B5EF4-FFF2-40B4-BE49-F238E27FC236}">
                <a16:creationId xmlns:a16="http://schemas.microsoft.com/office/drawing/2014/main" id="{ADF71B52-F892-4F06-9180-3638EE8C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47625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4766"/>
          </a:solidFill>
          <a:ln xmlns:a="http://schemas.openxmlformats.org/drawingml/2006/main" w="0">
            <a:solidFill>
              <a:srgbClr val="D74766"/>
            </a:solidFill>
            <a:prstDash val="solid"/>
          </a:ln>
        </p:spPr>
      </p:sp>
      <p:sp>
        <p:nvSpPr>
          <p:cNvPr id="10" name="Row 1 category tint">
            <a:extLst xmlns:a="http://schemas.openxmlformats.org/drawingml/2006/main">
              <a:ext uri="{FF2B5EF4-FFF2-40B4-BE49-F238E27FC236}">
                <a16:creationId xmlns:a16="http://schemas.microsoft.com/office/drawing/2014/main" id="{0D8F309E-953B-444B-91DC-38422AD3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16002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1F4"/>
          </a:solidFill>
          <a:ln xmlns:a="http://schemas.openxmlformats.org/drawingml/2006/main" w="0">
            <a:solidFill>
              <a:srgbClr val="FFF1F4"/>
            </a:solidFill>
            <a:prstDash val="solid"/>
          </a:ln>
        </p:spPr>
      </p:sp>
      <p:sp>
        <p:nvSpPr>
          <p:cNvPr id="11" name="Row 1 category label">
            <a:extLst xmlns:a="http://schemas.openxmlformats.org/drawingml/2006/main">
              <a:ext uri="{FF2B5EF4-FFF2-40B4-BE49-F238E27FC236}">
                <a16:creationId xmlns:a16="http://schemas.microsoft.com/office/drawing/2014/main" id="{F837BD74-9AE9-4201-A990-3ABD3AA2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14525"/>
            <a:ext cx="1381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D747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D747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74766"/>
                </a:solidFill>
                <a:latin typeface="Arial"/>
                <a:ea typeface="Arial"/>
                <a:cs typeface="Arial"/>
              </a:rPr>
              <a:t>AI &amp;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D747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74766"/>
                </a:solidFill>
                <a:latin typeface="Arial"/>
                <a:ea typeface="Arial"/>
                <a:cs typeface="Arial"/>
              </a:rPr>
              <a:t>nhà cung cấp</a:t>
            </a:r>
          </a:p>
        </p:txBody>
      </p:sp>
      <p:sp>
        <p:nvSpPr>
          <p:cNvPr id="12" name="Row 1 risk bg">
            <a:extLst xmlns:a="http://schemas.openxmlformats.org/drawingml/2006/main">
              <a:ext uri="{FF2B5EF4-FFF2-40B4-BE49-F238E27FC236}">
                <a16:creationId xmlns:a16="http://schemas.microsoft.com/office/drawing/2014/main" id="{954BE58F-950C-4497-9F32-CD6AB55E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809750"/>
            <a:ext cx="4724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DFE7F2"/>
            </a:solidFill>
            <a:prstDash val="solid"/>
          </a:ln>
        </p:spPr>
      </p:sp>
      <p:sp>
        <p:nvSpPr>
          <p:cNvPr id="13" name="Row 1 risk accent">
            <a:extLst xmlns:a="http://schemas.openxmlformats.org/drawingml/2006/main">
              <a:ext uri="{FF2B5EF4-FFF2-40B4-BE49-F238E27FC236}">
                <a16:creationId xmlns:a16="http://schemas.microsoft.com/office/drawing/2014/main" id="{BB7AE3CE-507D-4044-8D54-18A13F44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809750"/>
            <a:ext cx="47625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4766"/>
          </a:solidFill>
          <a:ln xmlns:a="http://schemas.openxmlformats.org/drawingml/2006/main" w="0">
            <a:solidFill>
              <a:srgbClr val="D74766"/>
            </a:solidFill>
            <a:prstDash val="solid"/>
          </a:ln>
        </p:spPr>
      </p:sp>
      <p:sp>
        <p:nvSpPr>
          <p:cNvPr id="14" name="Row 1 risk text">
            <a:extLst xmlns:a="http://schemas.openxmlformats.org/drawingml/2006/main">
              <a:ext uri="{FF2B5EF4-FFF2-40B4-BE49-F238E27FC236}">
                <a16:creationId xmlns:a16="http://schemas.microsoft.com/office/drawing/2014/main" id="{65744F94-9891-4804-AACA-054C1850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914525"/>
            <a:ext cx="4400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82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982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982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Gemini cần API key, mạng và quota. Khi AI không khả dụng, hệ thống đánh dấu AI_UNAVAILABLE và chuyển ca sang ESCALATE; không thể bảo đảm trả lời tự động.</a:t>
            </a:r>
          </a:p>
        </p:txBody>
      </p:sp>
      <p:sp>
        <p:nvSpPr>
          <p:cNvPr id="15" name="Row 1 next bg">
            <a:extLst xmlns:a="http://schemas.openxmlformats.org/drawingml/2006/main">
              <a:ext uri="{FF2B5EF4-FFF2-40B4-BE49-F238E27FC236}">
                <a16:creationId xmlns:a16="http://schemas.microsoft.com/office/drawing/2014/main" id="{954D0266-EA53-4F67-8567-1FDBD036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09750"/>
            <a:ext cx="4610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DFE7F2"/>
            </a:solidFill>
            <a:prstDash val="solid"/>
          </a:ln>
        </p:spPr>
      </p:sp>
      <p:sp>
        <p:nvSpPr>
          <p:cNvPr id="16" name="Row 1 next accent">
            <a:extLst xmlns:a="http://schemas.openxmlformats.org/drawingml/2006/main">
              <a:ext uri="{FF2B5EF4-FFF2-40B4-BE49-F238E27FC236}">
                <a16:creationId xmlns:a16="http://schemas.microsoft.com/office/drawing/2014/main" id="{8618D772-B613-4D2B-A194-E39AFFCA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09750"/>
            <a:ext cx="47625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9C78"/>
          </a:solidFill>
          <a:ln xmlns:a="http://schemas.openxmlformats.org/drawingml/2006/main" w="0">
            <a:solidFill>
              <a:srgbClr val="169C78"/>
            </a:solidFill>
            <a:prstDash val="solid"/>
          </a:ln>
        </p:spPr>
      </p:sp>
      <p:sp>
        <p:nvSpPr>
          <p:cNvPr id="17" name="Row 1 next text">
            <a:extLst xmlns:a="http://schemas.openxmlformats.org/drawingml/2006/main">
              <a:ext uri="{FF2B5EF4-FFF2-40B4-BE49-F238E27FC236}">
                <a16:creationId xmlns:a16="http://schemas.microsoft.com/office/drawing/2014/main" id="{31E6029F-BF74-406E-9343-5ABD386E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914525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82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982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982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Theo dõi health, lỗi, quota và độ trễ; bổ sung retry có giới hạn/cảnh báo; giữ đường lui an toàn sang giảng viên khi AI lỗi.</a:t>
            </a:r>
          </a:p>
        </p:txBody>
      </p:sp>
      <p:sp>
        <p:nvSpPr>
          <p:cNvPr id="18" name="Row 2 category bg">
            <a:extLst xmlns:a="http://schemas.openxmlformats.org/drawingml/2006/main">
              <a:ext uri="{FF2B5EF4-FFF2-40B4-BE49-F238E27FC236}">
                <a16:creationId xmlns:a16="http://schemas.microsoft.com/office/drawing/2014/main" id="{ED0F125B-5F6F-4F39-A4E5-69893DFC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1695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DFE7F2"/>
            </a:solidFill>
            <a:prstDash val="solid"/>
          </a:ln>
        </p:spPr>
      </p:sp>
      <p:sp>
        <p:nvSpPr>
          <p:cNvPr id="19" name="Row 2 category accent">
            <a:extLst xmlns:a="http://schemas.openxmlformats.org/drawingml/2006/main">
              <a:ext uri="{FF2B5EF4-FFF2-40B4-BE49-F238E27FC236}">
                <a16:creationId xmlns:a16="http://schemas.microsoft.com/office/drawing/2014/main" id="{AA91E4AA-F78A-4890-81F8-97BA29F1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47625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7912"/>
          </a:solidFill>
          <a:ln xmlns:a="http://schemas.openxmlformats.org/drawingml/2006/main" w="0">
            <a:solidFill>
              <a:srgbClr val="C77912"/>
            </a:solidFill>
            <a:prstDash val="solid"/>
          </a:ln>
        </p:spPr>
      </p:sp>
      <p:sp>
        <p:nvSpPr>
          <p:cNvPr id="20" name="Row 2 category tint">
            <a:extLst xmlns:a="http://schemas.openxmlformats.org/drawingml/2006/main">
              <a:ext uri="{FF2B5EF4-FFF2-40B4-BE49-F238E27FC236}">
                <a16:creationId xmlns:a16="http://schemas.microsoft.com/office/drawing/2014/main" id="{2FD4C4DA-1FAC-430D-9380-D46DBE7F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71775"/>
            <a:ext cx="16002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7E9"/>
          </a:solidFill>
          <a:ln xmlns:a="http://schemas.openxmlformats.org/drawingml/2006/main" w="0">
            <a:solidFill>
              <a:srgbClr val="FFF7E9"/>
            </a:solidFill>
            <a:prstDash val="solid"/>
          </a:ln>
        </p:spPr>
      </p:sp>
      <p:sp>
        <p:nvSpPr>
          <p:cNvPr id="21" name="Row 2 category label">
            <a:extLst xmlns:a="http://schemas.openxmlformats.org/drawingml/2006/main">
              <a:ext uri="{FF2B5EF4-FFF2-40B4-BE49-F238E27FC236}">
                <a16:creationId xmlns:a16="http://schemas.microsoft.com/office/drawing/2014/main" id="{94C1684D-5967-45A3-A1A5-0AB3C039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67025"/>
            <a:ext cx="1381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C779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79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7912"/>
                </a:solidFill>
                <a:latin typeface="Arial"/>
                <a:ea typeface="Arial"/>
                <a:cs typeface="Arial"/>
              </a:rPr>
              <a:t>Quy chế,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79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7912"/>
                </a:solidFill>
                <a:latin typeface="Arial"/>
                <a:ea typeface="Arial"/>
                <a:cs typeface="Arial"/>
              </a:rPr>
              <a:t>RAG &amp; OCR</a:t>
            </a:r>
          </a:p>
        </p:txBody>
      </p:sp>
      <p:sp>
        <p:nvSpPr>
          <p:cNvPr id="22" name="Row 2 risk bg">
            <a:extLst xmlns:a="http://schemas.openxmlformats.org/drawingml/2006/main">
              <a:ext uri="{FF2B5EF4-FFF2-40B4-BE49-F238E27FC236}">
                <a16:creationId xmlns:a16="http://schemas.microsoft.com/office/drawing/2014/main" id="{68ACB1D2-3152-44FA-9103-0C78A967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762250"/>
            <a:ext cx="4724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DFE7F2"/>
            </a:solidFill>
            <a:prstDash val="solid"/>
          </a:ln>
        </p:spPr>
      </p:sp>
      <p:sp>
        <p:nvSpPr>
          <p:cNvPr id="23" name="Row 2 risk accent">
            <a:extLst xmlns:a="http://schemas.openxmlformats.org/drawingml/2006/main">
              <a:ext uri="{FF2B5EF4-FFF2-40B4-BE49-F238E27FC236}">
                <a16:creationId xmlns:a16="http://schemas.microsoft.com/office/drawing/2014/main" id="{FB31CBE2-FD39-4022-A6E0-8569A532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762250"/>
            <a:ext cx="47625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7912"/>
          </a:solidFill>
          <a:ln xmlns:a="http://schemas.openxmlformats.org/drawingml/2006/main" w="0">
            <a:solidFill>
              <a:srgbClr val="C77912"/>
            </a:solidFill>
            <a:prstDash val="solid"/>
          </a:ln>
        </p:spPr>
      </p:sp>
      <p:sp>
        <p:nvSpPr>
          <p:cNvPr id="24" name="Row 2 risk text">
            <a:extLst xmlns:a="http://schemas.openxmlformats.org/drawingml/2006/main">
              <a:ext uri="{FF2B5EF4-FFF2-40B4-BE49-F238E27FC236}">
                <a16:creationId xmlns:a16="http://schemas.microsoft.com/office/drawing/2014/main" id="{2710AE40-FB15-47CC-A365-276D0A30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67025"/>
            <a:ext cx="4400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82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982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982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RAG chỉ dựa trên tài liệu đã nạp; bộ demo dùng tài liệu mẫu. PDF scan/OCR có thể trích sai; nội dung thiếu hoặc cũ làm giảm độ tin cậy. OCR confidence thấp cần người xác nhận.</a:t>
            </a:r>
          </a:p>
        </p:txBody>
      </p:sp>
      <p:sp>
        <p:nvSpPr>
          <p:cNvPr id="25" name="Row 2 next bg">
            <a:extLst xmlns:a="http://schemas.openxmlformats.org/drawingml/2006/main">
              <a:ext uri="{FF2B5EF4-FFF2-40B4-BE49-F238E27FC236}">
                <a16:creationId xmlns:a16="http://schemas.microsoft.com/office/drawing/2014/main" id="{5013259D-6650-4341-8FAC-B1545759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62250"/>
            <a:ext cx="4610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DFE7F2"/>
            </a:solidFill>
            <a:prstDash val="solid"/>
          </a:ln>
        </p:spPr>
      </p:sp>
      <p:sp>
        <p:nvSpPr>
          <p:cNvPr id="26" name="Row 2 next accent">
            <a:extLst xmlns:a="http://schemas.openxmlformats.org/drawingml/2006/main">
              <a:ext uri="{FF2B5EF4-FFF2-40B4-BE49-F238E27FC236}">
                <a16:creationId xmlns:a16="http://schemas.microsoft.com/office/drawing/2014/main" id="{A1E3D4CA-6C67-4D82-A0DA-935BCE26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62250"/>
            <a:ext cx="47625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9C78"/>
          </a:solidFill>
          <a:ln xmlns:a="http://schemas.openxmlformats.org/drawingml/2006/main" w="0">
            <a:solidFill>
              <a:srgbClr val="169C78"/>
            </a:solidFill>
            <a:prstDash val="solid"/>
          </a:ln>
        </p:spPr>
      </p:sp>
      <p:sp>
        <p:nvSpPr>
          <p:cNvPr id="27" name="Row 2 next text">
            <a:extLst xmlns:a="http://schemas.openxmlformats.org/drawingml/2006/main">
              <a:ext uri="{FF2B5EF4-FFF2-40B4-BE49-F238E27FC236}">
                <a16:creationId xmlns:a16="http://schemas.microsoft.com/office/drawing/2014/main" id="{F0167CD0-A593-4327-8CDF-26485B91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867025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82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982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982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Dùng kho quy chế chính thức và chủ tài liệu; quản lý phiên bản/ngày hiệu lực; duyệt kết quả OCR thấp rồi mới re-index/công bố.</a:t>
            </a:r>
          </a:p>
        </p:txBody>
      </p:sp>
      <p:sp>
        <p:nvSpPr>
          <p:cNvPr id="28" name="Row 3 category bg">
            <a:extLst xmlns:a="http://schemas.openxmlformats.org/drawingml/2006/main">
              <a:ext uri="{FF2B5EF4-FFF2-40B4-BE49-F238E27FC236}">
                <a16:creationId xmlns:a16="http://schemas.microsoft.com/office/drawing/2014/main" id="{6771E875-6363-47B5-A011-15C415E9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1695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DFE7F2"/>
            </a:solidFill>
            <a:prstDash val="solid"/>
          </a:ln>
        </p:spPr>
      </p:sp>
      <p:sp>
        <p:nvSpPr>
          <p:cNvPr id="29" name="Row 3 category accent">
            <a:extLst xmlns:a="http://schemas.openxmlformats.org/drawingml/2006/main">
              <a:ext uri="{FF2B5EF4-FFF2-40B4-BE49-F238E27FC236}">
                <a16:creationId xmlns:a16="http://schemas.microsoft.com/office/drawing/2014/main" id="{EEA5863C-B1CD-4829-96C5-06F79BD1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47625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96F4"/>
          </a:solidFill>
          <a:ln xmlns:a="http://schemas.openxmlformats.org/drawingml/2006/main" w="0">
            <a:solidFill>
              <a:srgbClr val="3196F4"/>
            </a:solidFill>
            <a:prstDash val="solid"/>
          </a:ln>
        </p:spPr>
      </p:sp>
      <p:sp>
        <p:nvSpPr>
          <p:cNvPr id="30" name="Row 3 category tint">
            <a:extLst xmlns:a="http://schemas.openxmlformats.org/drawingml/2006/main">
              <a:ext uri="{FF2B5EF4-FFF2-40B4-BE49-F238E27FC236}">
                <a16:creationId xmlns:a16="http://schemas.microsoft.com/office/drawing/2014/main" id="{3285A364-CE45-46CC-90B2-071B5A15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24275"/>
            <a:ext cx="16002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FF7FF"/>
          </a:solidFill>
          <a:ln xmlns:a="http://schemas.openxmlformats.org/drawingml/2006/main" w="0">
            <a:solidFill>
              <a:srgbClr val="EFF7FF"/>
            </a:solidFill>
            <a:prstDash val="solid"/>
          </a:ln>
        </p:spPr>
      </p:sp>
      <p:sp>
        <p:nvSpPr>
          <p:cNvPr id="31" name="Row 3 category label">
            <a:extLst xmlns:a="http://schemas.openxmlformats.org/drawingml/2006/main">
              <a:ext uri="{FF2B5EF4-FFF2-40B4-BE49-F238E27FC236}">
                <a16:creationId xmlns:a16="http://schemas.microsoft.com/office/drawing/2014/main" id="{C01E253A-B184-496A-B461-1125540F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9525"/>
            <a:ext cx="1381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196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96F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96F4"/>
                </a:solidFill>
                <a:latin typeface="Arial"/>
                <a:ea typeface="Arial"/>
                <a:cs typeface="Arial"/>
              </a:rPr>
              <a:t>File &amp;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96F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96F4"/>
                </a:solidFill>
                <a:latin typeface="Arial"/>
                <a:ea typeface="Arial"/>
                <a:cs typeface="Arial"/>
              </a:rPr>
              <a:t>lưu trữ</a:t>
            </a:r>
          </a:p>
        </p:txBody>
      </p:sp>
      <p:sp>
        <p:nvSpPr>
          <p:cNvPr id="32" name="Row 3 risk bg">
            <a:extLst xmlns:a="http://schemas.openxmlformats.org/drawingml/2006/main">
              <a:ext uri="{FF2B5EF4-FFF2-40B4-BE49-F238E27FC236}">
                <a16:creationId xmlns:a16="http://schemas.microsoft.com/office/drawing/2014/main" id="{CEF8266E-2457-4968-9B4E-2B1AD381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714750"/>
            <a:ext cx="4724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DFE7F2"/>
            </a:solidFill>
            <a:prstDash val="solid"/>
          </a:ln>
        </p:spPr>
      </p:sp>
      <p:sp>
        <p:nvSpPr>
          <p:cNvPr id="33" name="Row 3 risk accent">
            <a:extLst xmlns:a="http://schemas.openxmlformats.org/drawingml/2006/main">
              <a:ext uri="{FF2B5EF4-FFF2-40B4-BE49-F238E27FC236}">
                <a16:creationId xmlns:a16="http://schemas.microsoft.com/office/drawing/2014/main" id="{9C540B4A-6B81-410E-87E2-A6A6A043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714750"/>
            <a:ext cx="47625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96F4"/>
          </a:solidFill>
          <a:ln xmlns:a="http://schemas.openxmlformats.org/drawingml/2006/main" w="0">
            <a:solidFill>
              <a:srgbClr val="3196F4"/>
            </a:solidFill>
            <a:prstDash val="solid"/>
          </a:ln>
        </p:spPr>
      </p:sp>
      <p:sp>
        <p:nvSpPr>
          <p:cNvPr id="34" name="Row 3 risk text">
            <a:extLst xmlns:a="http://schemas.openxmlformats.org/drawingml/2006/main">
              <a:ext uri="{FF2B5EF4-FFF2-40B4-BE49-F238E27FC236}">
                <a16:creationId xmlns:a16="http://schemas.microsoft.com/office/drawing/2014/main" id="{E37AED2B-B9AE-41D1-AD24-07BF26DC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819525"/>
            <a:ext cx="4400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82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982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982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File tải lên và ảnh crop review lưu trên local filesystem. Repo chưa cấu hình object storage/backup cho cloud; nếu dùng ổ đĩa tạm, redeploy có thể làm mất file.</a:t>
            </a:r>
          </a:p>
        </p:txBody>
      </p:sp>
      <p:sp>
        <p:nvSpPr>
          <p:cNvPr id="35" name="Row 3 next bg">
            <a:extLst xmlns:a="http://schemas.openxmlformats.org/drawingml/2006/main">
              <a:ext uri="{FF2B5EF4-FFF2-40B4-BE49-F238E27FC236}">
                <a16:creationId xmlns:a16="http://schemas.microsoft.com/office/drawing/2014/main" id="{BB606691-7D84-438E-9E58-5E5D6D37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14750"/>
            <a:ext cx="4610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DFE7F2"/>
            </a:solidFill>
            <a:prstDash val="solid"/>
          </a:ln>
        </p:spPr>
      </p:sp>
      <p:sp>
        <p:nvSpPr>
          <p:cNvPr id="36" name="Row 3 next accent">
            <a:extLst xmlns:a="http://schemas.openxmlformats.org/drawingml/2006/main">
              <a:ext uri="{FF2B5EF4-FFF2-40B4-BE49-F238E27FC236}">
                <a16:creationId xmlns:a16="http://schemas.microsoft.com/office/drawing/2014/main" id="{98B07A48-0922-46B8-A8CA-4C21C246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14750"/>
            <a:ext cx="47625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9C78"/>
          </a:solidFill>
          <a:ln xmlns:a="http://schemas.openxmlformats.org/drawingml/2006/main" w="0">
            <a:solidFill>
              <a:srgbClr val="169C78"/>
            </a:solidFill>
            <a:prstDash val="solid"/>
          </a:ln>
        </p:spPr>
      </p:sp>
      <p:sp>
        <p:nvSpPr>
          <p:cNvPr id="37" name="Row 3 next text">
            <a:extLst xmlns:a="http://schemas.openxmlformats.org/drawingml/2006/main">
              <a:ext uri="{FF2B5EF4-FFF2-40B4-BE49-F238E27FC236}">
                <a16:creationId xmlns:a16="http://schemas.microsoft.com/office/drawing/2014/main" id="{5B1F7298-717E-4DDF-86C5-427231C1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819525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82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982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982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Chuyển file sang storage bền vững; bổ sung backup/restore, retention và kiểm soát quyền; kiểm tra dữ liệu sau redeploy.</a:t>
            </a:r>
          </a:p>
        </p:txBody>
      </p:sp>
      <p:sp>
        <p:nvSpPr>
          <p:cNvPr id="38" name="Row 4 category bg">
            <a:extLst xmlns:a="http://schemas.openxmlformats.org/drawingml/2006/main">
              <a:ext uri="{FF2B5EF4-FFF2-40B4-BE49-F238E27FC236}">
                <a16:creationId xmlns:a16="http://schemas.microsoft.com/office/drawing/2014/main" id="{5A7BE31B-C836-4EAD-B082-1F5756FC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0"/>
            <a:ext cx="1695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DFE7F2"/>
            </a:solidFill>
            <a:prstDash val="solid"/>
          </a:ln>
        </p:spPr>
      </p:sp>
      <p:sp>
        <p:nvSpPr>
          <p:cNvPr id="39" name="Row 4 category accent">
            <a:extLst xmlns:a="http://schemas.openxmlformats.org/drawingml/2006/main">
              <a:ext uri="{FF2B5EF4-FFF2-40B4-BE49-F238E27FC236}">
                <a16:creationId xmlns:a16="http://schemas.microsoft.com/office/drawing/2014/main" id="{310FEC18-4143-4B46-9CC8-5DC26258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0"/>
            <a:ext cx="47625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9F6"/>
          </a:solidFill>
          <a:ln xmlns:a="http://schemas.openxmlformats.org/drawingml/2006/main" w="0">
            <a:solidFill>
              <a:srgbClr val="7659F6"/>
            </a:solidFill>
            <a:prstDash val="solid"/>
          </a:ln>
        </p:spPr>
      </p:sp>
      <p:sp>
        <p:nvSpPr>
          <p:cNvPr id="40" name="Row 4 category tint">
            <a:extLst xmlns:a="http://schemas.openxmlformats.org/drawingml/2006/main">
              <a:ext uri="{FF2B5EF4-FFF2-40B4-BE49-F238E27FC236}">
                <a16:creationId xmlns:a16="http://schemas.microsoft.com/office/drawing/2014/main" id="{A32A8FDA-794D-4424-A4CD-97C68A25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76775"/>
            <a:ext cx="16002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3F1FF"/>
          </a:solidFill>
          <a:ln xmlns:a="http://schemas.openxmlformats.org/drawingml/2006/main" w="0">
            <a:solidFill>
              <a:srgbClr val="F3F1FF"/>
            </a:solidFill>
            <a:prstDash val="solid"/>
          </a:ln>
        </p:spPr>
      </p:sp>
      <p:sp>
        <p:nvSpPr>
          <p:cNvPr id="41" name="Row 4 category label">
            <a:extLst xmlns:a="http://schemas.openxmlformats.org/drawingml/2006/main">
              <a:ext uri="{FF2B5EF4-FFF2-40B4-BE49-F238E27FC236}">
                <a16:creationId xmlns:a16="http://schemas.microsoft.com/office/drawing/2014/main" id="{888BE7E9-2DB0-41BA-9E2C-5C783BDC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72025"/>
            <a:ext cx="1381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659F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7659F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59F6"/>
                </a:solidFill>
                <a:latin typeface="Arial"/>
                <a:ea typeface="Arial"/>
                <a:cs typeface="Arial"/>
              </a:rPr>
              <a:t>Vận hành &amp;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7659F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59F6"/>
                </a:solidFill>
                <a:latin typeface="Arial"/>
                <a:ea typeface="Arial"/>
                <a:cs typeface="Arial"/>
              </a:rPr>
              <a:t>đánh giá</a:t>
            </a:r>
          </a:p>
        </p:txBody>
      </p:sp>
      <p:sp>
        <p:nvSpPr>
          <p:cNvPr id="42" name="Row 4 risk bg">
            <a:extLst xmlns:a="http://schemas.openxmlformats.org/drawingml/2006/main">
              <a:ext uri="{FF2B5EF4-FFF2-40B4-BE49-F238E27FC236}">
                <a16:creationId xmlns:a16="http://schemas.microsoft.com/office/drawing/2014/main" id="{B9CCD52E-F0AC-4AF3-97B5-B0B8FDAE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667250"/>
            <a:ext cx="4724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DFE7F2"/>
            </a:solidFill>
            <a:prstDash val="solid"/>
          </a:ln>
        </p:spPr>
      </p:sp>
      <p:sp>
        <p:nvSpPr>
          <p:cNvPr id="43" name="Row 4 risk accent">
            <a:extLst xmlns:a="http://schemas.openxmlformats.org/drawingml/2006/main">
              <a:ext uri="{FF2B5EF4-FFF2-40B4-BE49-F238E27FC236}">
                <a16:creationId xmlns:a16="http://schemas.microsoft.com/office/drawing/2014/main" id="{85C12716-DD6D-4175-96AD-491C0223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667250"/>
            <a:ext cx="47625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9F6"/>
          </a:solidFill>
          <a:ln xmlns:a="http://schemas.openxmlformats.org/drawingml/2006/main" w="0">
            <a:solidFill>
              <a:srgbClr val="7659F6"/>
            </a:solidFill>
            <a:prstDash val="solid"/>
          </a:ln>
        </p:spPr>
      </p:sp>
      <p:sp>
        <p:nvSpPr>
          <p:cNvPr id="44" name="Row 4 risk text">
            <a:extLst xmlns:a="http://schemas.openxmlformats.org/drawingml/2006/main">
              <a:ext uri="{FF2B5EF4-FFF2-40B4-BE49-F238E27FC236}">
                <a16:creationId xmlns:a16="http://schemas.microsoft.com/office/drawing/2014/main" id="{EF92F74D-18D7-4F7A-A271-50480385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772025"/>
            <a:ext cx="4400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82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982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982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Local demo có role switch; luồng case hiện gắn reviewer lecturer-01. Bộ harness tĩnh giúp kiểm tra luồng nhưng chưa thay cho pilot trên câu hỏi thực tế.</a:t>
            </a:r>
          </a:p>
        </p:txBody>
      </p:sp>
      <p:sp>
        <p:nvSpPr>
          <p:cNvPr id="45" name="Row 4 next bg">
            <a:extLst xmlns:a="http://schemas.openxmlformats.org/drawingml/2006/main">
              <a:ext uri="{FF2B5EF4-FFF2-40B4-BE49-F238E27FC236}">
                <a16:creationId xmlns:a16="http://schemas.microsoft.com/office/drawing/2014/main" id="{70BAE80A-C441-4987-B564-C76BC6D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67250"/>
            <a:ext cx="4610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DFE7F2"/>
            </a:solidFill>
            <a:prstDash val="solid"/>
          </a:ln>
        </p:spPr>
      </p:sp>
      <p:sp>
        <p:nvSpPr>
          <p:cNvPr id="46" name="Row 4 next accent">
            <a:extLst xmlns:a="http://schemas.openxmlformats.org/drawingml/2006/main">
              <a:ext uri="{FF2B5EF4-FFF2-40B4-BE49-F238E27FC236}">
                <a16:creationId xmlns:a16="http://schemas.microsoft.com/office/drawing/2014/main" id="{15E54BDE-7267-45C1-91D5-EE1C8767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67250"/>
            <a:ext cx="47625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9C78"/>
          </a:solidFill>
          <a:ln xmlns:a="http://schemas.openxmlformats.org/drawingml/2006/main" w="0">
            <a:solidFill>
              <a:srgbClr val="169C78"/>
            </a:solidFill>
            <a:prstDash val="solid"/>
          </a:ln>
        </p:spPr>
      </p:sp>
      <p:sp>
        <p:nvSpPr>
          <p:cNvPr id="47" name="Row 4 next text">
            <a:extLst xmlns:a="http://schemas.openxmlformats.org/drawingml/2006/main">
              <a:ext uri="{FF2B5EF4-FFF2-40B4-BE49-F238E27FC236}">
                <a16:creationId xmlns:a16="http://schemas.microsoft.com/office/drawing/2014/main" id="{F7F7B359-96B2-41D2-AFE4-A2013DBA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772025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82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982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982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Provision tài khoản thật và phân công nhiều reviewer; chạy pilot có giám sát, đánh giá route, citation, thời gian phản hồi và tỷ lệ escalation.</a:t>
            </a:r>
          </a:p>
        </p:txBody>
      </p:sp>
      <p:sp>
        <p:nvSpPr>
          <p:cNvPr id="48" name="Next steps panel">
            <a:extLst xmlns:a="http://schemas.openxmlformats.org/drawingml/2006/main">
              <a:ext uri="{FF2B5EF4-FFF2-40B4-BE49-F238E27FC236}">
                <a16:creationId xmlns:a16="http://schemas.microsoft.com/office/drawing/2014/main" id="{5CFFCF07-FBE5-4CBE-A7DA-42399D44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12776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3F1FF"/>
          </a:solidFill>
          <a:ln xmlns:a="http://schemas.openxmlformats.org/drawingml/2006/main" w="9525">
            <a:solidFill>
              <a:srgbClr val="D8D1FF"/>
            </a:solidFill>
            <a:prstDash val="solid"/>
          </a:ln>
        </p:spPr>
      </p:sp>
      <p:sp>
        <p:nvSpPr>
          <p:cNvPr id="49" name="Next steps heading">
            <a:extLst xmlns:a="http://schemas.openxmlformats.org/drawingml/2006/main">
              <a:ext uri="{FF2B5EF4-FFF2-40B4-BE49-F238E27FC236}">
                <a16:creationId xmlns:a16="http://schemas.microsoft.com/office/drawing/2014/main" id="{67652921-7311-48A6-84D8-F143428C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81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23" b="1">
                <a:solidFill>
                  <a:srgbClr val="7659F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923" b="1">
                <a:solidFill>
                  <a:srgbClr val="7659F6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7659F6"/>
                </a:solidFill>
                <a:latin typeface="Arial"/>
                <a:ea typeface="Arial"/>
                <a:cs typeface="Arial"/>
              </a:rPr>
              <a:t>ƯU TIÊN ĐỀ XUẤT TRƯỚC KHI MỞ RỘNG</a:t>
            </a:r>
          </a:p>
        </p:txBody>
      </p:sp>
      <p:sp>
        <p:nvSpPr>
          <p:cNvPr id="50" name="Next steps chain">
            <a:extLst xmlns:a="http://schemas.openxmlformats.org/drawingml/2006/main">
              <a:ext uri="{FF2B5EF4-FFF2-40B4-BE49-F238E27FC236}">
                <a16:creationId xmlns:a16="http://schemas.microsoft.com/office/drawing/2014/main" id="{CBC06578-00FB-4CCC-B6EC-DD65BED0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10275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125" b="1">
                <a:solidFill>
                  <a:srgbClr val="18235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235B"/>
                </a:solidFill>
                <a:latin typeface="Arial"/>
                <a:ea typeface="Arial"/>
                <a:cs typeface="Arial"/>
              </a:rPr>
              <a:t>Nguồn quy chế chính thức  →  lưu trữ bền vững  →  phân công reviewer thật  →  pilot &amp; đánh giá thực tế</a:t>
            </a:r>
          </a:p>
        </p:txBody>
      </p:sp>
      <p:sp>
        <p:nvSpPr>
          <p:cNvPr id="51" name="Safety note">
            <a:extLst xmlns:a="http://schemas.openxmlformats.org/drawingml/2006/main">
              <a:ext uri="{FF2B5EF4-FFF2-40B4-BE49-F238E27FC236}">
                <a16:creationId xmlns:a16="http://schemas.microsoft.com/office/drawing/2014/main" id="{3428DC6F-0EC7-4E82-B8E7-F4B6C66B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15075"/>
            <a:ext cx="10810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45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945" b="0">
                <a:solidFill>
                  <a:srgbClr val="40517A"/>
                </a:solidFill>
                <a:latin typeface="Arial"/>
                <a:ea typeface="Arial"/>
                <a:cs typeface="Arial"/>
              </a:defRPr>
            </a:pPr>
            <a:r>
              <a:rPr sz="945" b="0">
                <a:solidFill>
                  <a:srgbClr val="40517A"/>
                </a:solidFill>
                <a:latin typeface="Arial"/>
                <a:ea typeface="Arial"/>
                <a:cs typeface="Arial"/>
              </a:rPr>
              <a:t>Guardrail hiện có: AI_UNAVAILABLE / NO_POLICY → ESCALATE; quyết định cuối vẫn do giảng viên.</a:t>
            </a:r>
          </a:p>
        </p:txBody>
      </p:sp>
    </p:spTree>
    <p:extLst>
      <p:ext uri="{BB962C8B-B14F-4D97-AF65-F5344CB8AC3E}">
        <p14:creationId xmlns:p14="http://schemas.microsoft.com/office/powerpoint/2010/main" val="8507407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2026-10-15T12:13:54.2810000Z</dcterms:created>
  <dcterms:modified xsi:type="dcterms:W3CDTF">2026-10-15T12:13:54.2810000Z</dcterms:modified>
</coreProperties>
</file>